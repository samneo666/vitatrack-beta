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307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6858000" cy="9144000"/>
  <p:embeddedFontLst>
    <p:embeddedFont>
      <p:font typeface="Microsoft JhengHei" panose="020B0604030504040204" pitchFamily="34" charset="-120"/>
      <p:regular r:id="rId54"/>
      <p:bold r:id="rId55"/>
    </p:embeddedFont>
    <p:embeddedFont>
      <p:font typeface="Microsoft JhengHei" panose="020B0604030504040204" pitchFamily="34" charset="-120"/>
      <p:regular r:id="rId54"/>
      <p:bold r:id="rId55"/>
    </p:embeddedFon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Montserrat" panose="00000500000000000000" pitchFamily="2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gFE5T2prsqpNC7K6mzXuRO0t9x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7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44" y="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63" Type="http://schemas.openxmlformats.org/officeDocument/2006/relationships/font" Target="fonts/font10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3" name="Google Shape;7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3407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22b6f32d6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b22b6f32d6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g3b22b6f32d6_1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4" name="Google Shape;254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ad698f54b_3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3aad698f54b_3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3aad698f54b_3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1340780fc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3b1340780fc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91" name="Google Shape;291;g3b1340780fc_2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13c24636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b13c24636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g3b13c246361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1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13c246361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3b13c246361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g3b13c246361_1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13c246361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g3b13c246361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g3b13c246361_1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" name="Google Shape;37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" name="Google Shape;3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22b6f32d6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3b22b6f32d6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g3b22b6f32d6_1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13c246361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g3b13c246361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7" name="Google Shape;407;g3b13c246361_1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p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p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13c246361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g3b13c246361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8" name="Google Shape;438;g3b13c246361_1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5" name="Google Shape;445;p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5" name="Google Shape;45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14228b5f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g3b14228b5f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5" name="Google Shape;465;g3b14228b5f8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2" name="Google Shape;47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1" name="Google Shape;50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b060e457b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g3b060e457b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1" name="Google Shape;511;g3b060e457b9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b1d23ac30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g3b1d23ac30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1" name="Google Shape;521;g3b1d23ac30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p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1" name="Google Shape;531;p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b1d23ac30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g3b1d23ac30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8" name="Google Shape;538;g3b1d23ac307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5" name="Google Shape;545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d83b8ed62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g3d83b8ed62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5" name="Google Shape;555;g3d83b8ed623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d83b8ed62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g3d83b8ed62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3" name="Google Shape;563;g3d83b8ed623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3" name="Google Shape;573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b22b6f32d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2" name="Google Shape;582;g3b22b6f32d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3" name="Google Shape;583;g3b22b6f32d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3" name="Google Shape;593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定义版式">
  <p:cSld name="1_自定义版式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9"/>
          <p:cNvSpPr txBox="1"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9"/>
          <p:cNvSpPr txBox="1"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>
  <p:cSld name="标题幻灯片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定义版式">
  <p:cSld name="自定义版式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>
  <p:cSld name="节标题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2"/>
          <p:cNvSpPr txBox="1"/>
          <p:nvPr/>
        </p:nvSpPr>
        <p:spPr>
          <a:xfrm>
            <a:off x="313929" y="361950"/>
            <a:ext cx="19111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 overview</a:t>
            </a:r>
            <a:endParaRPr sz="1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节标题">
  <p:cSld name="1_节标题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3"/>
          <p:cNvSpPr txBox="1"/>
          <p:nvPr/>
        </p:nvSpPr>
        <p:spPr>
          <a:xfrm>
            <a:off x="313929" y="361950"/>
            <a:ext cx="18886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 progress</a:t>
            </a:r>
            <a:endParaRPr sz="1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节标题">
  <p:cSld name="2_节标题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/>
          <p:nvPr/>
        </p:nvSpPr>
        <p:spPr>
          <a:xfrm>
            <a:off x="313929" y="361950"/>
            <a:ext cx="19912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 summary</a:t>
            </a:r>
            <a:endParaRPr sz="1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节标题">
  <p:cSld name="3_节标题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5"/>
          <p:cNvSpPr txBox="1"/>
          <p:nvPr/>
        </p:nvSpPr>
        <p:spPr>
          <a:xfrm>
            <a:off x="313929" y="361950"/>
            <a:ext cx="13981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Deficiency</a:t>
            </a:r>
            <a:endParaRPr sz="1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节标题">
  <p:cSld name="4_节标题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6"/>
          <p:cNvSpPr txBox="1"/>
          <p:nvPr/>
        </p:nvSpPr>
        <p:spPr>
          <a:xfrm>
            <a:off x="313929" y="361950"/>
            <a:ext cx="13901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 plan</a:t>
            </a:r>
            <a:endParaRPr sz="1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标题和内容">
  <p:cSld name="1_标题和内容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标题和内容">
  <p:cSld name="2_标题和内容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标题和内容">
  <p:cSld name="3_标题和内容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标题和内容">
  <p:cSld name="4_标题和内容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标题和内容">
  <p:cSld name="5_标题和内容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标题和内容">
  <p:cSld name="6_标题和内容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标题和内容">
  <p:cSld name="7_标题和内容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标题和内容">
  <p:cSld name="8_标题和内容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标题和内容">
  <p:cSld name="9_标题和内容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标题和内容">
  <p:cSld name="10_标题和内容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标题和内容">
  <p:cSld name="11_标题和内容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标题和内容">
  <p:cSld name="12_标题和内容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标题和内容">
  <p:cSld name="13_标题和内容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标题和内容">
  <p:cSld name="14_标题和内容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标题和内容">
  <p:cSld name="15_标题和内容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标题和内容">
  <p:cSld name="16_标题和内容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标题和内容">
  <p:cSld name="17_标题和内容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标题和内容">
  <p:cSld name="18_标题和内容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标题和内容">
  <p:cSld name="19_标题和内容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标题和内容">
  <p:cSld name="20_标题和内容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标题和内容">
  <p:cSld name="21_标题和内容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标题和内容">
  <p:cSld name="22_标题和内容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标题和内容">
  <p:cSld name="23_标题和内容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标题和内容">
  <p:cSld name="24_标题和内容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标题和内容">
  <p:cSld name="25_标题和内容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标题和内容">
  <p:cSld name="26_标题和内容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标题和内容">
  <p:cSld name="27_标题和内容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标题和内容">
  <p:cSld name="28_标题和内容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标题和内容">
  <p:cSld name="29_标题和内容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标题和内容">
  <p:cSld name="30_标题和内容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标题和内容">
  <p:cSld name="31_标题和内容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标题和内容">
  <p:cSld name="32_标题和内容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标题和内容">
  <p:cSld name="33_标题和内容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标题和内容">
  <p:cSld name="34_标题和内容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5_标题和内容">
  <p:cSld name="35_标题和内容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标题幻灯片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7"/>
          <p:cNvSpPr txBox="1"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/>
          <p:nvPr/>
        </p:nvSpPr>
        <p:spPr>
          <a:xfrm>
            <a:off x="4190999" y="944881"/>
            <a:ext cx="3671198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000" b="1" i="0" u="none" strike="noStrike" cap="none">
                <a:solidFill>
                  <a:srgbClr val="7B99A2"/>
                </a:solidFill>
                <a:latin typeface="Montserrat"/>
                <a:ea typeface="Montserrat"/>
                <a:cs typeface="Montserrat"/>
                <a:sym typeface="Montserrat"/>
              </a:rPr>
              <a:t>VitaTrack</a:t>
            </a:r>
            <a:endParaRPr sz="5000" b="1" i="0" u="none" strike="noStrike" cap="none">
              <a:solidFill>
                <a:srgbClr val="7B99A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14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Wellness Within Reach</a:t>
            </a:r>
            <a:endParaRPr sz="1400" b="1" i="0" u="none" strike="noStrike" cap="none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6" name="Google Shape;76;p1"/>
          <p:cNvGrpSpPr/>
          <p:nvPr/>
        </p:nvGrpSpPr>
        <p:grpSpPr>
          <a:xfrm>
            <a:off x="-58652" y="-27977"/>
            <a:ext cx="4094531" cy="5171477"/>
            <a:chOff x="-58652" y="-27977"/>
            <a:chExt cx="4596214" cy="5171477"/>
          </a:xfrm>
        </p:grpSpPr>
        <p:sp>
          <p:nvSpPr>
            <p:cNvPr id="77" name="Google Shape;77;p1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99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9" name="Google Shape;79;p1"/>
          <p:cNvSpPr txBox="1"/>
          <p:nvPr/>
        </p:nvSpPr>
        <p:spPr>
          <a:xfrm>
            <a:off x="3631649" y="2571750"/>
            <a:ext cx="1880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n-US" sz="1600" b="0" i="0" u="none" strike="noStrike" cap="none" dirty="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1600" b="0" i="0" u="none" strike="noStrike" cap="none" dirty="0" err="1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健康食品電商網站</a:t>
            </a:r>
            <a:r>
              <a:rPr lang="en-US" sz="1600" b="0" i="0" u="none" strike="noStrike" cap="none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 b="0" i="0" u="none" strike="noStrike" cap="none" dirty="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0" name="Google Shape;80;p1"/>
          <p:cNvPicPr preferRelativeResize="0"/>
          <p:nvPr/>
        </p:nvPicPr>
        <p:blipFill rotWithShape="1">
          <a:blip r:embed="rId3">
            <a:alphaModFix/>
          </a:blip>
          <a:srcRect r="11712"/>
          <a:stretch/>
        </p:blipFill>
        <p:spPr>
          <a:xfrm flipH="1">
            <a:off x="5257800" y="2856986"/>
            <a:ext cx="3113814" cy="192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71650" y="2856975"/>
            <a:ext cx="2669974" cy="19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 txBox="1"/>
          <p:nvPr/>
        </p:nvSpPr>
        <p:spPr>
          <a:xfrm>
            <a:off x="3015150" y="3455250"/>
            <a:ext cx="3113700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組員</a:t>
            </a:r>
            <a:r>
              <a:rPr lang="en-US" sz="1400" b="0" i="0" u="none" strike="noStrike" cap="none" dirty="0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endParaRPr sz="1400" b="0" i="0" u="none" strike="noStrike" cap="none" dirty="0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劉森豪</a:t>
            </a:r>
            <a:r>
              <a:rPr lang="en-US" dirty="0" err="1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、簡懷恩、宋柏毅</a:t>
            </a:r>
            <a:endParaRPr dirty="0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指導老師</a:t>
            </a:r>
            <a:r>
              <a:rPr lang="en-US" sz="1400" b="0" i="0" u="none" strike="noStrike" cap="none" dirty="0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 </a:t>
            </a:r>
            <a:r>
              <a:rPr lang="en-US" sz="1400" b="0" i="0" u="none" strike="noStrike" cap="none" dirty="0" err="1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陳怡榕老師</a:t>
            </a:r>
            <a:r>
              <a:rPr lang="en-US" sz="1400" b="0" i="0" u="none" strike="noStrike" cap="none" dirty="0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 </a:t>
            </a:r>
            <a:r>
              <a:rPr lang="en-US" sz="1400" b="0" i="0" u="none" strike="noStrike" cap="none" dirty="0" err="1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李偉銘老師、劉耀升老師、張互賓老師</a:t>
            </a:r>
            <a:endParaRPr sz="1400" b="0" i="0" u="none" strike="noStrike" cap="none" dirty="0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96EE4FD-DA1B-4CCF-96A5-385DE2576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574738"/>
            <a:ext cx="1652159" cy="79254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18DEA32-E566-48DD-994C-208D4F6DAEB1}"/>
              </a:ext>
            </a:extLst>
          </p:cNvPr>
          <p:cNvSpPr txBox="1"/>
          <p:nvPr/>
        </p:nvSpPr>
        <p:spPr>
          <a:xfrm>
            <a:off x="77140" y="4570743"/>
            <a:ext cx="2919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TJA202 Java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開發技術在職培訓班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F0E38F8-BDD8-4BA4-B94A-957D891515E5}"/>
              </a:ext>
            </a:extLst>
          </p:cNvPr>
          <p:cNvSpPr txBox="1"/>
          <p:nvPr/>
        </p:nvSpPr>
        <p:spPr>
          <a:xfrm>
            <a:off x="94481" y="4322347"/>
            <a:ext cx="901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第</a:t>
            </a:r>
            <a:r>
              <a:rPr lang="en-US" altLang="zh-TW" sz="1200" dirty="0"/>
              <a:t>5</a:t>
            </a:r>
            <a:r>
              <a:rPr lang="zh-TW" altLang="en-US" sz="1200" dirty="0"/>
              <a:t>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3"/>
          <p:cNvGrpSpPr/>
          <p:nvPr/>
        </p:nvGrpSpPr>
        <p:grpSpPr>
          <a:xfrm>
            <a:off x="0" y="-27977"/>
            <a:ext cx="4094307" cy="5171477"/>
            <a:chOff x="-58652" y="-27977"/>
            <a:chExt cx="4596214" cy="5171477"/>
          </a:xfrm>
        </p:grpSpPr>
        <p:sp>
          <p:nvSpPr>
            <p:cNvPr id="89" name="Google Shape;89;p3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1" name="Google Shape;91;p3"/>
          <p:cNvSpPr txBox="1"/>
          <p:nvPr/>
        </p:nvSpPr>
        <p:spPr>
          <a:xfrm>
            <a:off x="210118" y="2184078"/>
            <a:ext cx="36159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  <a:endParaRPr sz="48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3"/>
          <p:cNvGrpSpPr/>
          <p:nvPr/>
        </p:nvGrpSpPr>
        <p:grpSpPr>
          <a:xfrm>
            <a:off x="4773609" y="4019187"/>
            <a:ext cx="5153050" cy="385318"/>
            <a:chOff x="3527609" y="1954206"/>
            <a:chExt cx="3101818" cy="385318"/>
          </a:xfrm>
        </p:grpSpPr>
        <p:sp>
          <p:nvSpPr>
            <p:cNvPr id="93" name="Google Shape;93;p3"/>
            <p:cNvSpPr/>
            <p:nvPr/>
          </p:nvSpPr>
          <p:spPr>
            <a:xfrm>
              <a:off x="3995937" y="1954206"/>
              <a:ext cx="1916117" cy="385318"/>
            </a:xfrm>
            <a:prstGeom prst="roundRect">
              <a:avLst>
                <a:gd name="adj" fmla="val 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4127727" y="1980396"/>
              <a:ext cx="2501700" cy="3385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50" tIns="60975" rIns="121950" bIns="609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</a:t>
              </a:r>
              <a:r>
                <a:rPr lang="en-US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未來展望</a:t>
              </a:r>
              <a:endParaRPr sz="10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6" name="Google Shape;96;p3"/>
            <p:cNvSpPr txBox="1"/>
            <p:nvPr/>
          </p:nvSpPr>
          <p:spPr>
            <a:xfrm>
              <a:off x="3527609" y="1954206"/>
              <a:ext cx="501137" cy="338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09</a:t>
              </a:r>
              <a:endPara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7" name="Google Shape;97;p3"/>
          <p:cNvGrpSpPr/>
          <p:nvPr/>
        </p:nvGrpSpPr>
        <p:grpSpPr>
          <a:xfrm>
            <a:off x="4705916" y="771672"/>
            <a:ext cx="4420555" cy="861805"/>
            <a:chOff x="3491558" y="1954206"/>
            <a:chExt cx="2660901" cy="861805"/>
          </a:xfrm>
        </p:grpSpPr>
        <p:sp>
          <p:nvSpPr>
            <p:cNvPr id="98" name="Google Shape;98;p3"/>
            <p:cNvSpPr/>
            <p:nvPr/>
          </p:nvSpPr>
          <p:spPr>
            <a:xfrm>
              <a:off x="3995937" y="1954206"/>
              <a:ext cx="1916117" cy="385318"/>
            </a:xfrm>
            <a:prstGeom prst="roundRect">
              <a:avLst>
                <a:gd name="adj" fmla="val 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4163689" y="1954206"/>
              <a:ext cx="1988770" cy="861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50" tIns="60975" rIns="121950" bIns="609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網站地圖 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1" name="Google Shape;101;p3"/>
            <p:cNvSpPr txBox="1"/>
            <p:nvPr/>
          </p:nvSpPr>
          <p:spPr>
            <a:xfrm>
              <a:off x="3491558" y="1954206"/>
              <a:ext cx="50113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02</a:t>
              </a:r>
              <a:endParaRPr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2" name="Google Shape;102;p3"/>
          <p:cNvGrpSpPr/>
          <p:nvPr/>
        </p:nvGrpSpPr>
        <p:grpSpPr>
          <a:xfrm>
            <a:off x="4767730" y="2129258"/>
            <a:ext cx="4333301" cy="477084"/>
            <a:chOff x="3527613" y="1913706"/>
            <a:chExt cx="2593704" cy="477084"/>
          </a:xfrm>
        </p:grpSpPr>
        <p:sp>
          <p:nvSpPr>
            <p:cNvPr id="103" name="Google Shape;103;p3"/>
            <p:cNvSpPr/>
            <p:nvPr/>
          </p:nvSpPr>
          <p:spPr>
            <a:xfrm>
              <a:off x="3995936" y="1954206"/>
              <a:ext cx="1916117" cy="385318"/>
            </a:xfrm>
            <a:prstGeom prst="roundRect">
              <a:avLst>
                <a:gd name="adj" fmla="val 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4132617" y="1913706"/>
              <a:ext cx="1988700" cy="4770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50" tIns="60975" rIns="121950" bIns="609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 dirty="0" err="1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商品功能流程</a:t>
              </a:r>
              <a:endParaRPr sz="1300" b="0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000" b="0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</a:t>
              </a:r>
              <a:r>
                <a:rPr lang="en-US" sz="1000" b="0" i="0" u="none" strike="noStrike" cap="none" dirty="0" err="1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流程圖、ER</a:t>
              </a:r>
              <a:r>
                <a:rPr lang="en-US" sz="1000" b="0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MODEL</a:t>
              </a:r>
              <a:r>
                <a:rPr lang="en-US" sz="1000" b="1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)</a:t>
              </a:r>
              <a:endParaRPr sz="1000" b="1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6" name="Google Shape;106;p3"/>
            <p:cNvSpPr txBox="1"/>
            <p:nvPr/>
          </p:nvSpPr>
          <p:spPr>
            <a:xfrm>
              <a:off x="3527613" y="1954201"/>
              <a:ext cx="359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  <a:endPara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7" name="Google Shape;107;p3"/>
          <p:cNvGrpSpPr/>
          <p:nvPr/>
        </p:nvGrpSpPr>
        <p:grpSpPr>
          <a:xfrm>
            <a:off x="4782409" y="3044704"/>
            <a:ext cx="4826030" cy="428671"/>
            <a:chOff x="3527609" y="1910853"/>
            <a:chExt cx="2904972" cy="428671"/>
          </a:xfrm>
        </p:grpSpPr>
        <p:sp>
          <p:nvSpPr>
            <p:cNvPr id="108" name="Google Shape;108;p3"/>
            <p:cNvSpPr/>
            <p:nvPr/>
          </p:nvSpPr>
          <p:spPr>
            <a:xfrm>
              <a:off x="3995937" y="1954206"/>
              <a:ext cx="1920708" cy="385318"/>
            </a:xfrm>
            <a:prstGeom prst="roundRect">
              <a:avLst>
                <a:gd name="adj" fmla="val 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4082381" y="1910853"/>
              <a:ext cx="2350200" cy="323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50" tIns="60975" rIns="121950" bIns="609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 </a:t>
              </a:r>
              <a:endParaRPr sz="13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name="adj" fmla="val 16667"/>
              </a:avLst>
            </a:prstGeom>
            <a:solidFill>
              <a:srgbClr val="A6BCC1"/>
            </a:solidFill>
            <a:ln w="9525" cap="flat" cmpd="sng">
              <a:solidFill>
                <a:srgbClr val="A6BC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3527609" y="1954206"/>
              <a:ext cx="50113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07</a:t>
              </a:r>
              <a:endPara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2" name="Google Shape;112;p3"/>
          <p:cNvGrpSpPr/>
          <p:nvPr/>
        </p:nvGrpSpPr>
        <p:grpSpPr>
          <a:xfrm>
            <a:off x="4707374" y="292853"/>
            <a:ext cx="4430499" cy="385318"/>
            <a:chOff x="3485498" y="1954206"/>
            <a:chExt cx="2666887" cy="385318"/>
          </a:xfrm>
        </p:grpSpPr>
        <p:sp>
          <p:nvSpPr>
            <p:cNvPr id="113" name="Google Shape;113;p3"/>
            <p:cNvSpPr/>
            <p:nvPr/>
          </p:nvSpPr>
          <p:spPr>
            <a:xfrm>
              <a:off x="3995937" y="1954206"/>
              <a:ext cx="1916117" cy="385318"/>
            </a:xfrm>
            <a:prstGeom prst="roundRect">
              <a:avLst>
                <a:gd name="adj" fmla="val 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4163685" y="1954206"/>
              <a:ext cx="1988700" cy="3693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50" tIns="60975" rIns="121950" bIns="609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b="0" i="0" u="none" strike="noStrike" cap="none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專題起源</a:t>
              </a:r>
              <a:endParaRPr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name="adj" fmla="val 16667"/>
              </a:avLst>
            </a:prstGeom>
            <a:solidFill>
              <a:srgbClr val="A6BC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3485498" y="1955613"/>
              <a:ext cx="501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01</a:t>
              </a:r>
              <a:endPara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4773609" y="3463966"/>
            <a:ext cx="5031735" cy="523250"/>
            <a:chOff x="3527609" y="1895093"/>
            <a:chExt cx="3028794" cy="523250"/>
          </a:xfrm>
        </p:grpSpPr>
        <p:sp>
          <p:nvSpPr>
            <p:cNvPr id="118" name="Google Shape;118;p3"/>
            <p:cNvSpPr/>
            <p:nvPr/>
          </p:nvSpPr>
          <p:spPr>
            <a:xfrm>
              <a:off x="3995937" y="1954206"/>
              <a:ext cx="1920708" cy="385318"/>
            </a:xfrm>
            <a:prstGeom prst="roundRect">
              <a:avLst>
                <a:gd name="adj" fmla="val 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112303" y="1895093"/>
              <a:ext cx="2444100" cy="523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50" tIns="60975" rIns="121950" bIns="609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結帳功能流程</a:t>
              </a:r>
              <a:endParaRPr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</a:t>
              </a:r>
              <a:r>
                <a:rPr lang="en-US" sz="1000" b="0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</a:t>
              </a:r>
              <a:r>
                <a:rPr lang="en-US" sz="1000" b="0" i="0" u="none" strike="noStrike" cap="none" dirty="0" err="1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流程圖</a:t>
              </a:r>
              <a:r>
                <a:rPr lang="zh-TW" altLang="en-US" sz="1000" b="0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、</a:t>
              </a:r>
              <a:r>
                <a:rPr lang="en-US" sz="1000" b="0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ER MODEL)</a:t>
              </a:r>
              <a:endParaRPr sz="1300" b="0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3542139" y="1954206"/>
              <a:ext cx="385318" cy="385318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3527609" y="1954206"/>
              <a:ext cx="50113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08</a:t>
              </a:r>
              <a:endPara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4759323" y="1234278"/>
            <a:ext cx="3971506" cy="385200"/>
            <a:chOff x="3523592" y="1954206"/>
            <a:chExt cx="2388445" cy="385200"/>
          </a:xfrm>
        </p:grpSpPr>
        <p:sp>
          <p:nvSpPr>
            <p:cNvPr id="123" name="Google Shape;123;p3"/>
            <p:cNvSpPr/>
            <p:nvPr/>
          </p:nvSpPr>
          <p:spPr>
            <a:xfrm>
              <a:off x="3995937" y="1954206"/>
              <a:ext cx="1916100" cy="385200"/>
            </a:xfrm>
            <a:prstGeom prst="roundRect">
              <a:avLst>
                <a:gd name="adj" fmla="val 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   </a:t>
              </a:r>
              <a:r>
                <a:rPr lang="en-US" b="1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 </a:t>
              </a:r>
              <a:r>
                <a:rPr lang="en-US" b="0" i="0" u="none" strike="noStrike" cap="none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組員分工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</a:t>
              </a:r>
              <a:endParaRPr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3542139" y="1954206"/>
              <a:ext cx="385200" cy="385200"/>
            </a:xfrm>
            <a:prstGeom prst="roundRect">
              <a:avLst>
                <a:gd name="adj" fmla="val 16667"/>
              </a:avLst>
            </a:prstGeom>
            <a:solidFill>
              <a:srgbClr val="394B5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3523592" y="1983931"/>
              <a:ext cx="292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6" name="Google Shape;126;p3"/>
          <p:cNvGrpSpPr/>
          <p:nvPr/>
        </p:nvGrpSpPr>
        <p:grpSpPr>
          <a:xfrm>
            <a:off x="4779509" y="2575547"/>
            <a:ext cx="4254207" cy="754083"/>
            <a:chOff x="3527609" y="1888073"/>
            <a:chExt cx="2560770" cy="754083"/>
          </a:xfrm>
        </p:grpSpPr>
        <p:sp>
          <p:nvSpPr>
            <p:cNvPr id="127" name="Google Shape;127;p3"/>
            <p:cNvSpPr/>
            <p:nvPr/>
          </p:nvSpPr>
          <p:spPr>
            <a:xfrm>
              <a:off x="3995937" y="1954206"/>
              <a:ext cx="1920600" cy="385200"/>
            </a:xfrm>
            <a:prstGeom prst="roundRect">
              <a:avLst>
                <a:gd name="adj" fmla="val 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3542139" y="1954206"/>
              <a:ext cx="385200" cy="385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3527609" y="1954206"/>
              <a:ext cx="501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06</a:t>
              </a:r>
              <a:endPara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4099679" y="1888073"/>
              <a:ext cx="1988700" cy="754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50" tIns="60975" rIns="121950" bIns="609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</a:t>
              </a:r>
              <a:r>
                <a:rPr lang="en-US" sz="1300" b="0" i="0" u="none" strike="noStrike" cap="none" dirty="0" err="1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會員功能流程、後台會員管理</a:t>
              </a:r>
              <a:endParaRPr sz="1300" b="0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</a:t>
              </a:r>
              <a:r>
                <a:rPr lang="en-US" sz="1000" b="0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(</a:t>
              </a:r>
              <a:r>
                <a:rPr lang="en-US" sz="1000" b="0" i="0" u="none" strike="noStrike" cap="none" dirty="0" err="1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流程圖、ER</a:t>
              </a:r>
              <a:r>
                <a:rPr lang="en-US" sz="1000" b="0" i="0" u="none" strike="noStrike" cap="none" dirty="0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MODEL)</a:t>
              </a:r>
              <a:endParaRPr sz="1000" b="0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1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4761496" y="1689992"/>
            <a:ext cx="3968726" cy="490086"/>
            <a:chOff x="3527609" y="1954206"/>
            <a:chExt cx="2388928" cy="490086"/>
          </a:xfrm>
        </p:grpSpPr>
        <p:sp>
          <p:nvSpPr>
            <p:cNvPr id="132" name="Google Shape;132;p3"/>
            <p:cNvSpPr/>
            <p:nvPr/>
          </p:nvSpPr>
          <p:spPr>
            <a:xfrm>
              <a:off x="3995937" y="1954206"/>
              <a:ext cx="1920600" cy="385200"/>
            </a:xfrm>
            <a:prstGeom prst="roundRect">
              <a:avLst>
                <a:gd name="adj" fmla="val 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127728" y="1960992"/>
              <a:ext cx="1722600" cy="48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50" tIns="60975" rIns="121950" bIns="60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</a:t>
              </a:r>
              <a:r>
                <a:rPr lang="en-US" b="0" i="0" u="none" strike="noStrike" cap="none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ER MODEL</a:t>
              </a:r>
              <a:endParaRPr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3542139" y="1954206"/>
              <a:ext cx="385200" cy="385200"/>
            </a:xfrm>
            <a:prstGeom prst="roundRect">
              <a:avLst>
                <a:gd name="adj" fmla="val 16667"/>
              </a:avLst>
            </a:prstGeom>
            <a:solidFill>
              <a:srgbClr val="A6BC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3527609" y="1954206"/>
              <a:ext cx="501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6" name="Google Shape;136;p3"/>
          <p:cNvSpPr/>
          <p:nvPr/>
        </p:nvSpPr>
        <p:spPr>
          <a:xfrm>
            <a:off x="5744848" y="3031851"/>
            <a:ext cx="40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50" tIns="60975" rIns="121950" bIns="609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sz="1300" b="0" i="0" u="none" strike="noStrike" cap="none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購物車功能流程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sz="1000" b="0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en-US" sz="1000" b="0" i="0" u="none" strike="noStrike" cap="none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流程圖、ER</a:t>
            </a:r>
            <a:r>
              <a:rPr lang="en-US" sz="1000" b="0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MODEL)</a:t>
            </a:r>
            <a:endParaRPr sz="1300" b="0" i="0" u="none" strike="noStrike" cap="none" dirty="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137" name="Google Shape;137;p3"/>
          <p:cNvGrpSpPr/>
          <p:nvPr/>
        </p:nvGrpSpPr>
        <p:grpSpPr>
          <a:xfrm>
            <a:off x="4694631" y="4474328"/>
            <a:ext cx="4430499" cy="385200"/>
            <a:chOff x="3485498" y="1954206"/>
            <a:chExt cx="2666887" cy="385200"/>
          </a:xfrm>
        </p:grpSpPr>
        <p:sp>
          <p:nvSpPr>
            <p:cNvPr id="138" name="Google Shape;138;p3"/>
            <p:cNvSpPr/>
            <p:nvPr/>
          </p:nvSpPr>
          <p:spPr>
            <a:xfrm>
              <a:off x="3995937" y="1954206"/>
              <a:ext cx="1916100" cy="385200"/>
            </a:xfrm>
            <a:prstGeom prst="roundRect">
              <a:avLst>
                <a:gd name="adj" fmla="val 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4163685" y="1954206"/>
              <a:ext cx="198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50" tIns="60975" rIns="121950" bIns="609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n-US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參考資料</a:t>
              </a:r>
              <a:endParaRPr sz="16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3542139" y="1954206"/>
              <a:ext cx="385200" cy="385200"/>
            </a:xfrm>
            <a:prstGeom prst="roundRect">
              <a:avLst>
                <a:gd name="adj" fmla="val 16667"/>
              </a:avLst>
            </a:prstGeom>
            <a:solidFill>
              <a:srgbClr val="A6BC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3485498" y="1955613"/>
              <a:ext cx="501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6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</a:t>
              </a:r>
              <a:endPara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6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148" name="Google Shape;148;p6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0" name="Google Shape;150;p6"/>
          <p:cNvSpPr txBox="1"/>
          <p:nvPr/>
        </p:nvSpPr>
        <p:spPr>
          <a:xfrm>
            <a:off x="990600" y="2175974"/>
            <a:ext cx="10149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5100" b="1" i="0" u="none" strike="noStrike" cap="non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3581400" y="2114550"/>
            <a:ext cx="4724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專題起源</a:t>
            </a:r>
            <a:endParaRPr sz="3200" b="1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/>
        </p:nvSpPr>
        <p:spPr>
          <a:xfrm>
            <a:off x="3128132" y="303670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721525" y="672488"/>
            <a:ext cx="3522300" cy="68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394B5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近年來健康食品的需求快速成長，但在選購上仍面臨以下問題</a:t>
            </a:r>
            <a:r>
              <a:rPr lang="en-US" sz="1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sz="16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159" name="Google Shape;159;p5"/>
          <p:cNvGrpSpPr/>
          <p:nvPr/>
        </p:nvGrpSpPr>
        <p:grpSpPr>
          <a:xfrm>
            <a:off x="4572208" y="2195680"/>
            <a:ext cx="3956617" cy="374762"/>
            <a:chOff x="6329844" y="3864279"/>
            <a:chExt cx="5275490" cy="499682"/>
          </a:xfrm>
        </p:grpSpPr>
        <p:grpSp>
          <p:nvGrpSpPr>
            <p:cNvPr id="160" name="Google Shape;160;p5"/>
            <p:cNvGrpSpPr/>
            <p:nvPr/>
          </p:nvGrpSpPr>
          <p:grpSpPr>
            <a:xfrm>
              <a:off x="6329844" y="3864279"/>
              <a:ext cx="494682" cy="494682"/>
              <a:chOff x="7214440" y="3667670"/>
              <a:chExt cx="413117" cy="413117"/>
            </a:xfrm>
          </p:grpSpPr>
          <p:sp>
            <p:nvSpPr>
              <p:cNvPr id="161" name="Google Shape;161;p5"/>
              <p:cNvSpPr/>
              <p:nvPr/>
            </p:nvSpPr>
            <p:spPr>
              <a:xfrm>
                <a:off x="7214440" y="3667670"/>
                <a:ext cx="413117" cy="41311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7298468" y="3754004"/>
                <a:ext cx="240468" cy="24044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79" y="17044"/>
                    </a:moveTo>
                    <a:cubicBezTo>
                      <a:pt x="9428" y="17174"/>
                      <a:pt x="9252" y="17274"/>
                      <a:pt x="9050" y="17344"/>
                    </a:cubicBezTo>
                    <a:cubicBezTo>
                      <a:pt x="8849" y="17415"/>
                      <a:pt x="8636" y="17450"/>
                      <a:pt x="8413" y="17450"/>
                    </a:cubicBezTo>
                    <a:cubicBezTo>
                      <a:pt x="7887" y="17450"/>
                      <a:pt x="7488" y="17288"/>
                      <a:pt x="7214" y="16966"/>
                    </a:cubicBezTo>
                    <a:cubicBezTo>
                      <a:pt x="6941" y="16644"/>
                      <a:pt x="6797" y="16226"/>
                      <a:pt x="6782" y="15715"/>
                    </a:cubicBezTo>
                    <a:lnTo>
                      <a:pt x="5864" y="15715"/>
                    </a:lnTo>
                    <a:cubicBezTo>
                      <a:pt x="5857" y="16122"/>
                      <a:pt x="5913" y="16486"/>
                      <a:pt x="6032" y="16805"/>
                    </a:cubicBezTo>
                    <a:cubicBezTo>
                      <a:pt x="6151" y="17123"/>
                      <a:pt x="6321" y="17393"/>
                      <a:pt x="6545" y="17611"/>
                    </a:cubicBezTo>
                    <a:cubicBezTo>
                      <a:pt x="6767" y="17830"/>
                      <a:pt x="7038" y="17995"/>
                      <a:pt x="7355" y="18106"/>
                    </a:cubicBezTo>
                    <a:cubicBezTo>
                      <a:pt x="7671" y="18218"/>
                      <a:pt x="8024" y="18273"/>
                      <a:pt x="8413" y="18273"/>
                    </a:cubicBezTo>
                    <a:cubicBezTo>
                      <a:pt x="8773" y="18273"/>
                      <a:pt x="9113" y="18223"/>
                      <a:pt x="9434" y="18123"/>
                    </a:cubicBezTo>
                    <a:cubicBezTo>
                      <a:pt x="9754" y="18023"/>
                      <a:pt x="10033" y="17873"/>
                      <a:pt x="10271" y="17672"/>
                    </a:cubicBezTo>
                    <a:cubicBezTo>
                      <a:pt x="10509" y="17472"/>
                      <a:pt x="10697" y="17222"/>
                      <a:pt x="10837" y="16922"/>
                    </a:cubicBezTo>
                    <a:cubicBezTo>
                      <a:pt x="10978" y="16621"/>
                      <a:pt x="11048" y="16275"/>
                      <a:pt x="11048" y="15881"/>
                    </a:cubicBezTo>
                    <a:cubicBezTo>
                      <a:pt x="11048" y="15407"/>
                      <a:pt x="10935" y="14995"/>
                      <a:pt x="10708" y="14646"/>
                    </a:cubicBezTo>
                    <a:cubicBezTo>
                      <a:pt x="10481" y="14298"/>
                      <a:pt x="10134" y="14072"/>
                      <a:pt x="9666" y="13968"/>
                    </a:cubicBezTo>
                    <a:lnTo>
                      <a:pt x="9666" y="13946"/>
                    </a:lnTo>
                    <a:cubicBezTo>
                      <a:pt x="9968" y="13805"/>
                      <a:pt x="10220" y="13597"/>
                      <a:pt x="10422" y="13323"/>
                    </a:cubicBezTo>
                    <a:cubicBezTo>
                      <a:pt x="10624" y="13048"/>
                      <a:pt x="10724" y="12734"/>
                      <a:pt x="10724" y="12377"/>
                    </a:cubicBezTo>
                    <a:cubicBezTo>
                      <a:pt x="10724" y="12014"/>
                      <a:pt x="10665" y="11698"/>
                      <a:pt x="10546" y="11432"/>
                    </a:cubicBezTo>
                    <a:cubicBezTo>
                      <a:pt x="10427" y="11165"/>
                      <a:pt x="10263" y="10946"/>
                      <a:pt x="10055" y="10776"/>
                    </a:cubicBezTo>
                    <a:cubicBezTo>
                      <a:pt x="9846" y="10605"/>
                      <a:pt x="9599" y="10477"/>
                      <a:pt x="9315" y="10392"/>
                    </a:cubicBezTo>
                    <a:cubicBezTo>
                      <a:pt x="9030" y="10306"/>
                      <a:pt x="8722" y="10264"/>
                      <a:pt x="8391" y="10264"/>
                    </a:cubicBezTo>
                    <a:cubicBezTo>
                      <a:pt x="8010" y="10264"/>
                      <a:pt x="7673" y="10326"/>
                      <a:pt x="7382" y="10453"/>
                    </a:cubicBezTo>
                    <a:cubicBezTo>
                      <a:pt x="7090" y="10579"/>
                      <a:pt x="6847" y="10753"/>
                      <a:pt x="6653" y="10976"/>
                    </a:cubicBezTo>
                    <a:cubicBezTo>
                      <a:pt x="6459" y="11198"/>
                      <a:pt x="6309" y="11466"/>
                      <a:pt x="6204" y="11777"/>
                    </a:cubicBezTo>
                    <a:cubicBezTo>
                      <a:pt x="6100" y="12088"/>
                      <a:pt x="6040" y="12433"/>
                      <a:pt x="6026" y="12811"/>
                    </a:cubicBezTo>
                    <a:lnTo>
                      <a:pt x="6944" y="12811"/>
                    </a:lnTo>
                    <a:cubicBezTo>
                      <a:pt x="6944" y="12581"/>
                      <a:pt x="6972" y="12363"/>
                      <a:pt x="7031" y="12155"/>
                    </a:cubicBezTo>
                    <a:cubicBezTo>
                      <a:pt x="7088" y="11947"/>
                      <a:pt x="7177" y="11766"/>
                      <a:pt x="7296" y="11610"/>
                    </a:cubicBezTo>
                    <a:cubicBezTo>
                      <a:pt x="7414" y="11454"/>
                      <a:pt x="7565" y="11330"/>
                      <a:pt x="7749" y="11237"/>
                    </a:cubicBezTo>
                    <a:cubicBezTo>
                      <a:pt x="7932" y="11144"/>
                      <a:pt x="8147" y="11098"/>
                      <a:pt x="8391" y="11098"/>
                    </a:cubicBezTo>
                    <a:cubicBezTo>
                      <a:pt x="8780" y="11098"/>
                      <a:pt x="9104" y="11204"/>
                      <a:pt x="9364" y="11415"/>
                    </a:cubicBezTo>
                    <a:cubicBezTo>
                      <a:pt x="9623" y="11627"/>
                      <a:pt x="9752" y="11943"/>
                      <a:pt x="9752" y="12366"/>
                    </a:cubicBezTo>
                    <a:cubicBezTo>
                      <a:pt x="9752" y="12574"/>
                      <a:pt x="9713" y="12759"/>
                      <a:pt x="9634" y="12922"/>
                    </a:cubicBezTo>
                    <a:cubicBezTo>
                      <a:pt x="9554" y="13086"/>
                      <a:pt x="9448" y="13221"/>
                      <a:pt x="9315" y="13329"/>
                    </a:cubicBezTo>
                    <a:cubicBezTo>
                      <a:pt x="9182" y="13436"/>
                      <a:pt x="9027" y="13517"/>
                      <a:pt x="8851" y="13574"/>
                    </a:cubicBezTo>
                    <a:cubicBezTo>
                      <a:pt x="8674" y="13629"/>
                      <a:pt x="8488" y="13657"/>
                      <a:pt x="8294" y="13657"/>
                    </a:cubicBezTo>
                    <a:lnTo>
                      <a:pt x="7992" y="13657"/>
                    </a:lnTo>
                    <a:cubicBezTo>
                      <a:pt x="7963" y="13657"/>
                      <a:pt x="7930" y="13653"/>
                      <a:pt x="7895" y="13645"/>
                    </a:cubicBezTo>
                    <a:lnTo>
                      <a:pt x="7895" y="14447"/>
                    </a:lnTo>
                    <a:cubicBezTo>
                      <a:pt x="8067" y="14424"/>
                      <a:pt x="8251" y="14413"/>
                      <a:pt x="8445" y="14413"/>
                    </a:cubicBezTo>
                    <a:cubicBezTo>
                      <a:pt x="8676" y="14413"/>
                      <a:pt x="8890" y="14444"/>
                      <a:pt x="9088" y="14507"/>
                    </a:cubicBezTo>
                    <a:cubicBezTo>
                      <a:pt x="9286" y="14571"/>
                      <a:pt x="9457" y="14667"/>
                      <a:pt x="9601" y="14797"/>
                    </a:cubicBezTo>
                    <a:cubicBezTo>
                      <a:pt x="9745" y="14927"/>
                      <a:pt x="9860" y="15086"/>
                      <a:pt x="9947" y="15275"/>
                    </a:cubicBezTo>
                    <a:cubicBezTo>
                      <a:pt x="10033" y="15464"/>
                      <a:pt x="10076" y="15682"/>
                      <a:pt x="10076" y="15926"/>
                    </a:cubicBezTo>
                    <a:cubicBezTo>
                      <a:pt x="10076" y="16163"/>
                      <a:pt x="10031" y="16377"/>
                      <a:pt x="9941" y="16565"/>
                    </a:cubicBezTo>
                    <a:cubicBezTo>
                      <a:pt x="9851" y="16754"/>
                      <a:pt x="9731" y="16914"/>
                      <a:pt x="9579" y="17044"/>
                    </a:cubicBezTo>
                    <a:moveTo>
                      <a:pt x="14257" y="18151"/>
                    </a:moveTo>
                    <a:lnTo>
                      <a:pt x="15175" y="18151"/>
                    </a:lnTo>
                    <a:lnTo>
                      <a:pt x="15175" y="10264"/>
                    </a:lnTo>
                    <a:lnTo>
                      <a:pt x="14473" y="10264"/>
                    </a:lnTo>
                    <a:cubicBezTo>
                      <a:pt x="14422" y="10561"/>
                      <a:pt x="14329" y="10805"/>
                      <a:pt x="14192" y="10998"/>
                    </a:cubicBezTo>
                    <a:cubicBezTo>
                      <a:pt x="14055" y="11191"/>
                      <a:pt x="13888" y="11343"/>
                      <a:pt x="13690" y="11454"/>
                    </a:cubicBezTo>
                    <a:cubicBezTo>
                      <a:pt x="13492" y="11565"/>
                      <a:pt x="13271" y="11641"/>
                      <a:pt x="13026" y="11682"/>
                    </a:cubicBezTo>
                    <a:cubicBezTo>
                      <a:pt x="12781" y="11723"/>
                      <a:pt x="12529" y="11743"/>
                      <a:pt x="12270" y="11743"/>
                    </a:cubicBezTo>
                    <a:lnTo>
                      <a:pt x="12270" y="12499"/>
                    </a:lnTo>
                    <a:lnTo>
                      <a:pt x="14257" y="12499"/>
                    </a:lnTo>
                    <a:cubicBezTo>
                      <a:pt x="14257" y="12499"/>
                      <a:pt x="14257" y="18151"/>
                      <a:pt x="14257" y="18151"/>
                    </a:cubicBezTo>
                    <a:close/>
                    <a:moveTo>
                      <a:pt x="20618" y="6873"/>
                    </a:moveTo>
                    <a:lnTo>
                      <a:pt x="982" y="6873"/>
                    </a:lnTo>
                    <a:lnTo>
                      <a:pt x="982" y="3928"/>
                    </a:lnTo>
                    <a:cubicBezTo>
                      <a:pt x="982" y="3385"/>
                      <a:pt x="1421" y="2945"/>
                      <a:pt x="1964" y="2945"/>
                    </a:cubicBezTo>
                    <a:lnTo>
                      <a:pt x="3927" y="2945"/>
                    </a:lnTo>
                    <a:lnTo>
                      <a:pt x="3927" y="4418"/>
                    </a:lnTo>
                    <a:cubicBezTo>
                      <a:pt x="3927" y="4690"/>
                      <a:pt x="4147" y="4909"/>
                      <a:pt x="4418" y="4909"/>
                    </a:cubicBezTo>
                    <a:cubicBezTo>
                      <a:pt x="4690" y="4909"/>
                      <a:pt x="4909" y="4690"/>
                      <a:pt x="4909" y="4418"/>
                    </a:cubicBezTo>
                    <a:lnTo>
                      <a:pt x="4909" y="2945"/>
                    </a:lnTo>
                    <a:lnTo>
                      <a:pt x="16691" y="2945"/>
                    </a:lnTo>
                    <a:lnTo>
                      <a:pt x="16691" y="4418"/>
                    </a:lnTo>
                    <a:cubicBezTo>
                      <a:pt x="16691" y="4690"/>
                      <a:pt x="16910" y="4909"/>
                      <a:pt x="17182" y="4909"/>
                    </a:cubicBezTo>
                    <a:cubicBezTo>
                      <a:pt x="17453" y="4909"/>
                      <a:pt x="17673" y="4690"/>
                      <a:pt x="17673" y="4418"/>
                    </a:cubicBezTo>
                    <a:lnTo>
                      <a:pt x="17673" y="2945"/>
                    </a:lnTo>
                    <a:lnTo>
                      <a:pt x="19636" y="2945"/>
                    </a:lnTo>
                    <a:cubicBezTo>
                      <a:pt x="20179" y="2945"/>
                      <a:pt x="20618" y="3385"/>
                      <a:pt x="20618" y="3928"/>
                    </a:cubicBezTo>
                    <a:cubicBezTo>
                      <a:pt x="20618" y="3928"/>
                      <a:pt x="20618" y="6873"/>
                      <a:pt x="20618" y="6873"/>
                    </a:cubicBezTo>
                    <a:close/>
                    <a:moveTo>
                      <a:pt x="20618" y="19636"/>
                    </a:moveTo>
                    <a:cubicBezTo>
                      <a:pt x="20618" y="20179"/>
                      <a:pt x="20179" y="20618"/>
                      <a:pt x="19636" y="20618"/>
                    </a:cubicBezTo>
                    <a:lnTo>
                      <a:pt x="1964" y="20618"/>
                    </a:lnTo>
                    <a:cubicBezTo>
                      <a:pt x="1421" y="20618"/>
                      <a:pt x="982" y="20179"/>
                      <a:pt x="982" y="19636"/>
                    </a:cubicBezTo>
                    <a:lnTo>
                      <a:pt x="982" y="7855"/>
                    </a:lnTo>
                    <a:lnTo>
                      <a:pt x="20618" y="7855"/>
                    </a:lnTo>
                    <a:cubicBezTo>
                      <a:pt x="20618" y="7855"/>
                      <a:pt x="20618" y="19636"/>
                      <a:pt x="20618" y="19636"/>
                    </a:cubicBezTo>
                    <a:close/>
                    <a:moveTo>
                      <a:pt x="19636" y="1964"/>
                    </a:moveTo>
                    <a:lnTo>
                      <a:pt x="17673" y="1964"/>
                    </a:lnTo>
                    <a:lnTo>
                      <a:pt x="17673" y="491"/>
                    </a:lnTo>
                    <a:cubicBezTo>
                      <a:pt x="17673" y="220"/>
                      <a:pt x="17453" y="0"/>
                      <a:pt x="17182" y="0"/>
                    </a:cubicBezTo>
                    <a:cubicBezTo>
                      <a:pt x="16910" y="0"/>
                      <a:pt x="16691" y="220"/>
                      <a:pt x="16691" y="491"/>
                    </a:cubicBezTo>
                    <a:lnTo>
                      <a:pt x="16691" y="1964"/>
                    </a:lnTo>
                    <a:lnTo>
                      <a:pt x="4909" y="1964"/>
                    </a:lnTo>
                    <a:lnTo>
                      <a:pt x="4909" y="491"/>
                    </a:lnTo>
                    <a:cubicBezTo>
                      <a:pt x="4909" y="220"/>
                      <a:pt x="4690" y="0"/>
                      <a:pt x="4418" y="0"/>
                    </a:cubicBezTo>
                    <a:cubicBezTo>
                      <a:pt x="4147" y="0"/>
                      <a:pt x="3927" y="220"/>
                      <a:pt x="3927" y="491"/>
                    </a:cubicBezTo>
                    <a:lnTo>
                      <a:pt x="3927" y="1964"/>
                    </a:lnTo>
                    <a:lnTo>
                      <a:pt x="1964" y="1964"/>
                    </a:lnTo>
                    <a:cubicBezTo>
                      <a:pt x="879" y="1964"/>
                      <a:pt x="0" y="2843"/>
                      <a:pt x="0" y="3928"/>
                    </a:cubicBezTo>
                    <a:lnTo>
                      <a:pt x="0" y="19636"/>
                    </a:lnTo>
                    <a:cubicBezTo>
                      <a:pt x="0" y="20721"/>
                      <a:pt x="879" y="21600"/>
                      <a:pt x="1964" y="21600"/>
                    </a:cubicBezTo>
                    <a:lnTo>
                      <a:pt x="19636" y="21600"/>
                    </a:lnTo>
                    <a:cubicBezTo>
                      <a:pt x="20721" y="21600"/>
                      <a:pt x="21600" y="20721"/>
                      <a:pt x="21600" y="19636"/>
                    </a:cubicBezTo>
                    <a:lnTo>
                      <a:pt x="21600" y="3928"/>
                    </a:lnTo>
                    <a:cubicBezTo>
                      <a:pt x="21600" y="2843"/>
                      <a:pt x="20721" y="1964"/>
                      <a:pt x="19636" y="1964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63" name="Google Shape;163;p5"/>
            <p:cNvSpPr/>
            <p:nvPr/>
          </p:nvSpPr>
          <p:spPr>
            <a:xfrm>
              <a:off x="6824533" y="3945439"/>
              <a:ext cx="4780801" cy="418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購買流程分散，搜尋、下單與付款缺乏整體串聯</a:t>
              </a:r>
              <a:endParaRPr sz="12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164" name="Google Shape;164;p5"/>
          <p:cNvGrpSpPr/>
          <p:nvPr/>
        </p:nvGrpSpPr>
        <p:grpSpPr>
          <a:xfrm>
            <a:off x="4572208" y="2652659"/>
            <a:ext cx="4091380" cy="517950"/>
            <a:chOff x="6329844" y="4473585"/>
            <a:chExt cx="5455173" cy="690600"/>
          </a:xfrm>
        </p:grpSpPr>
        <p:grpSp>
          <p:nvGrpSpPr>
            <p:cNvPr id="165" name="Google Shape;165;p5"/>
            <p:cNvGrpSpPr/>
            <p:nvPr/>
          </p:nvGrpSpPr>
          <p:grpSpPr>
            <a:xfrm>
              <a:off x="6329844" y="4521085"/>
              <a:ext cx="494682" cy="494682"/>
              <a:chOff x="7214440" y="4445415"/>
              <a:chExt cx="413117" cy="413117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7214440" y="4445415"/>
                <a:ext cx="413117" cy="41311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7298468" y="4542637"/>
                <a:ext cx="240468" cy="2186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144" extrusionOk="0">
                    <a:moveTo>
                      <a:pt x="20618" y="7406"/>
                    </a:moveTo>
                    <a:lnTo>
                      <a:pt x="13580" y="7406"/>
                    </a:lnTo>
                    <a:cubicBezTo>
                      <a:pt x="13156" y="6803"/>
                      <a:pt x="12718" y="6095"/>
                      <a:pt x="12319" y="5293"/>
                    </a:cubicBezTo>
                    <a:lnTo>
                      <a:pt x="20618" y="5293"/>
                    </a:lnTo>
                    <a:cubicBezTo>
                      <a:pt x="20618" y="5293"/>
                      <a:pt x="20618" y="7406"/>
                      <a:pt x="20618" y="7406"/>
                    </a:cubicBezTo>
                    <a:close/>
                    <a:moveTo>
                      <a:pt x="19636" y="13747"/>
                    </a:moveTo>
                    <a:lnTo>
                      <a:pt x="11291" y="13747"/>
                    </a:lnTo>
                    <a:lnTo>
                      <a:pt x="11291" y="8463"/>
                    </a:lnTo>
                    <a:lnTo>
                      <a:pt x="13090" y="8463"/>
                    </a:lnTo>
                    <a:cubicBezTo>
                      <a:pt x="14022" y="9712"/>
                      <a:pt x="14815" y="10437"/>
                      <a:pt x="14882" y="10497"/>
                    </a:cubicBezTo>
                    <a:cubicBezTo>
                      <a:pt x="15009" y="10610"/>
                      <a:pt x="15174" y="10644"/>
                      <a:pt x="15323" y="10601"/>
                    </a:cubicBezTo>
                    <a:cubicBezTo>
                      <a:pt x="15418" y="10574"/>
                      <a:pt x="15505" y="10516"/>
                      <a:pt x="15573" y="10429"/>
                    </a:cubicBezTo>
                    <a:cubicBezTo>
                      <a:pt x="15746" y="10205"/>
                      <a:pt x="15718" y="9871"/>
                      <a:pt x="15510" y="9684"/>
                    </a:cubicBezTo>
                    <a:cubicBezTo>
                      <a:pt x="15498" y="9674"/>
                      <a:pt x="15023" y="9238"/>
                      <a:pt x="14383" y="8463"/>
                    </a:cubicBezTo>
                    <a:lnTo>
                      <a:pt x="19636" y="8463"/>
                    </a:lnTo>
                    <a:cubicBezTo>
                      <a:pt x="19636" y="8463"/>
                      <a:pt x="19636" y="13747"/>
                      <a:pt x="19636" y="13747"/>
                    </a:cubicBezTo>
                    <a:close/>
                    <a:moveTo>
                      <a:pt x="19636" y="20087"/>
                    </a:moveTo>
                    <a:lnTo>
                      <a:pt x="11291" y="20087"/>
                    </a:lnTo>
                    <a:lnTo>
                      <a:pt x="11291" y="14803"/>
                    </a:lnTo>
                    <a:lnTo>
                      <a:pt x="19636" y="14803"/>
                    </a:lnTo>
                    <a:cubicBezTo>
                      <a:pt x="19636" y="14803"/>
                      <a:pt x="19636" y="20087"/>
                      <a:pt x="19636" y="20087"/>
                    </a:cubicBezTo>
                    <a:close/>
                    <a:moveTo>
                      <a:pt x="11291" y="5461"/>
                    </a:moveTo>
                    <a:cubicBezTo>
                      <a:pt x="11626" y="6178"/>
                      <a:pt x="11991" y="6828"/>
                      <a:pt x="12360" y="7406"/>
                    </a:cubicBezTo>
                    <a:lnTo>
                      <a:pt x="11291" y="7406"/>
                    </a:lnTo>
                    <a:cubicBezTo>
                      <a:pt x="11291" y="7406"/>
                      <a:pt x="11291" y="5461"/>
                      <a:pt x="11291" y="5461"/>
                    </a:cubicBezTo>
                    <a:close/>
                    <a:moveTo>
                      <a:pt x="12871" y="1481"/>
                    </a:moveTo>
                    <a:cubicBezTo>
                      <a:pt x="14045" y="751"/>
                      <a:pt x="15436" y="979"/>
                      <a:pt x="15979" y="1990"/>
                    </a:cubicBezTo>
                    <a:cubicBezTo>
                      <a:pt x="16343" y="2668"/>
                      <a:pt x="16223" y="3523"/>
                      <a:pt x="15755" y="4236"/>
                    </a:cubicBezTo>
                    <a:lnTo>
                      <a:pt x="11845" y="4236"/>
                    </a:lnTo>
                    <a:cubicBezTo>
                      <a:pt x="11740" y="3975"/>
                      <a:pt x="11641" y="3708"/>
                      <a:pt x="11550" y="3432"/>
                    </a:cubicBezTo>
                    <a:cubicBezTo>
                      <a:pt x="11653" y="2691"/>
                      <a:pt x="12120" y="1947"/>
                      <a:pt x="12871" y="1481"/>
                    </a:cubicBezTo>
                    <a:moveTo>
                      <a:pt x="10309" y="7406"/>
                    </a:moveTo>
                    <a:lnTo>
                      <a:pt x="9224" y="7406"/>
                    </a:lnTo>
                    <a:cubicBezTo>
                      <a:pt x="9600" y="6819"/>
                      <a:pt x="9970" y="6158"/>
                      <a:pt x="10309" y="5429"/>
                    </a:cubicBezTo>
                    <a:cubicBezTo>
                      <a:pt x="10309" y="5429"/>
                      <a:pt x="10309" y="7406"/>
                      <a:pt x="10309" y="7406"/>
                    </a:cubicBezTo>
                    <a:close/>
                    <a:moveTo>
                      <a:pt x="10309" y="13747"/>
                    </a:moveTo>
                    <a:lnTo>
                      <a:pt x="1964" y="13747"/>
                    </a:lnTo>
                    <a:lnTo>
                      <a:pt x="1964" y="8463"/>
                    </a:lnTo>
                    <a:lnTo>
                      <a:pt x="7202" y="8463"/>
                    </a:lnTo>
                    <a:cubicBezTo>
                      <a:pt x="6563" y="9238"/>
                      <a:pt x="6087" y="9674"/>
                      <a:pt x="6075" y="9684"/>
                    </a:cubicBezTo>
                    <a:cubicBezTo>
                      <a:pt x="5867" y="9871"/>
                      <a:pt x="5839" y="10205"/>
                      <a:pt x="6012" y="10429"/>
                    </a:cubicBezTo>
                    <a:cubicBezTo>
                      <a:pt x="6080" y="10516"/>
                      <a:pt x="6167" y="10574"/>
                      <a:pt x="6261" y="10601"/>
                    </a:cubicBezTo>
                    <a:cubicBezTo>
                      <a:pt x="6411" y="10644"/>
                      <a:pt x="6575" y="10610"/>
                      <a:pt x="6703" y="10497"/>
                    </a:cubicBezTo>
                    <a:cubicBezTo>
                      <a:pt x="6770" y="10437"/>
                      <a:pt x="7563" y="9712"/>
                      <a:pt x="8495" y="8463"/>
                    </a:cubicBezTo>
                    <a:lnTo>
                      <a:pt x="10309" y="8463"/>
                    </a:lnTo>
                    <a:cubicBezTo>
                      <a:pt x="10309" y="8463"/>
                      <a:pt x="10309" y="13747"/>
                      <a:pt x="10309" y="13747"/>
                    </a:cubicBezTo>
                    <a:close/>
                    <a:moveTo>
                      <a:pt x="10309" y="20087"/>
                    </a:moveTo>
                    <a:lnTo>
                      <a:pt x="1964" y="20087"/>
                    </a:lnTo>
                    <a:lnTo>
                      <a:pt x="1964" y="14803"/>
                    </a:lnTo>
                    <a:lnTo>
                      <a:pt x="10309" y="14803"/>
                    </a:lnTo>
                    <a:cubicBezTo>
                      <a:pt x="10309" y="14803"/>
                      <a:pt x="10309" y="20087"/>
                      <a:pt x="10309" y="20087"/>
                    </a:cubicBezTo>
                    <a:close/>
                    <a:moveTo>
                      <a:pt x="982" y="7406"/>
                    </a:moveTo>
                    <a:lnTo>
                      <a:pt x="982" y="5293"/>
                    </a:lnTo>
                    <a:lnTo>
                      <a:pt x="9266" y="5293"/>
                    </a:lnTo>
                    <a:cubicBezTo>
                      <a:pt x="8867" y="6095"/>
                      <a:pt x="8429" y="6803"/>
                      <a:pt x="8005" y="7406"/>
                    </a:cubicBezTo>
                    <a:cubicBezTo>
                      <a:pt x="8005" y="7406"/>
                      <a:pt x="982" y="7406"/>
                      <a:pt x="982" y="7406"/>
                    </a:cubicBezTo>
                    <a:close/>
                    <a:moveTo>
                      <a:pt x="5606" y="1990"/>
                    </a:moveTo>
                    <a:cubicBezTo>
                      <a:pt x="6148" y="980"/>
                      <a:pt x="7540" y="751"/>
                      <a:pt x="8714" y="1481"/>
                    </a:cubicBezTo>
                    <a:cubicBezTo>
                      <a:pt x="9465" y="1948"/>
                      <a:pt x="9931" y="2692"/>
                      <a:pt x="10035" y="3433"/>
                    </a:cubicBezTo>
                    <a:cubicBezTo>
                      <a:pt x="9944" y="3708"/>
                      <a:pt x="9845" y="3975"/>
                      <a:pt x="9740" y="4236"/>
                    </a:cubicBezTo>
                    <a:lnTo>
                      <a:pt x="5830" y="4236"/>
                    </a:lnTo>
                    <a:cubicBezTo>
                      <a:pt x="5362" y="3523"/>
                      <a:pt x="5242" y="2668"/>
                      <a:pt x="5606" y="1990"/>
                    </a:cubicBezTo>
                    <a:moveTo>
                      <a:pt x="20618" y="4236"/>
                    </a:moveTo>
                    <a:lnTo>
                      <a:pt x="16874" y="4236"/>
                    </a:lnTo>
                    <a:cubicBezTo>
                      <a:pt x="17259" y="3325"/>
                      <a:pt x="17284" y="2310"/>
                      <a:pt x="16829" y="1461"/>
                    </a:cubicBezTo>
                    <a:cubicBezTo>
                      <a:pt x="16015" y="-54"/>
                      <a:pt x="14024" y="-456"/>
                      <a:pt x="12380" y="565"/>
                    </a:cubicBezTo>
                    <a:cubicBezTo>
                      <a:pt x="11747" y="959"/>
                      <a:pt x="11277" y="1511"/>
                      <a:pt x="10965" y="2122"/>
                    </a:cubicBezTo>
                    <a:cubicBezTo>
                      <a:pt x="10949" y="2115"/>
                      <a:pt x="10937" y="2103"/>
                      <a:pt x="10920" y="2098"/>
                    </a:cubicBezTo>
                    <a:cubicBezTo>
                      <a:pt x="10909" y="2095"/>
                      <a:pt x="10899" y="2097"/>
                      <a:pt x="10888" y="2095"/>
                    </a:cubicBezTo>
                    <a:cubicBezTo>
                      <a:pt x="10861" y="2089"/>
                      <a:pt x="10834" y="2089"/>
                      <a:pt x="10806" y="2088"/>
                    </a:cubicBezTo>
                    <a:cubicBezTo>
                      <a:pt x="10782" y="2089"/>
                      <a:pt x="10759" y="2089"/>
                      <a:pt x="10735" y="2093"/>
                    </a:cubicBezTo>
                    <a:cubicBezTo>
                      <a:pt x="10712" y="2096"/>
                      <a:pt x="10689" y="2090"/>
                      <a:pt x="10665" y="2098"/>
                    </a:cubicBezTo>
                    <a:cubicBezTo>
                      <a:pt x="10648" y="2103"/>
                      <a:pt x="10636" y="2115"/>
                      <a:pt x="10620" y="2122"/>
                    </a:cubicBezTo>
                    <a:cubicBezTo>
                      <a:pt x="10307" y="1511"/>
                      <a:pt x="9837" y="959"/>
                      <a:pt x="9205" y="566"/>
                    </a:cubicBezTo>
                    <a:cubicBezTo>
                      <a:pt x="7561" y="-456"/>
                      <a:pt x="5569" y="-54"/>
                      <a:pt x="4755" y="1461"/>
                    </a:cubicBezTo>
                    <a:cubicBezTo>
                      <a:pt x="4301" y="2310"/>
                      <a:pt x="4325" y="3325"/>
                      <a:pt x="4711" y="4236"/>
                    </a:cubicBezTo>
                    <a:lnTo>
                      <a:pt x="982" y="4236"/>
                    </a:lnTo>
                    <a:cubicBezTo>
                      <a:pt x="440" y="4236"/>
                      <a:pt x="0" y="4709"/>
                      <a:pt x="0" y="5293"/>
                    </a:cubicBezTo>
                    <a:lnTo>
                      <a:pt x="0" y="7406"/>
                    </a:lnTo>
                    <a:cubicBezTo>
                      <a:pt x="0" y="7990"/>
                      <a:pt x="440" y="8463"/>
                      <a:pt x="982" y="8463"/>
                    </a:cubicBezTo>
                    <a:lnTo>
                      <a:pt x="982" y="20087"/>
                    </a:lnTo>
                    <a:cubicBezTo>
                      <a:pt x="982" y="20671"/>
                      <a:pt x="1422" y="21144"/>
                      <a:pt x="1964" y="21144"/>
                    </a:cubicBezTo>
                    <a:lnTo>
                      <a:pt x="19636" y="21144"/>
                    </a:lnTo>
                    <a:cubicBezTo>
                      <a:pt x="20178" y="21144"/>
                      <a:pt x="20618" y="20671"/>
                      <a:pt x="20618" y="20087"/>
                    </a:cubicBezTo>
                    <a:lnTo>
                      <a:pt x="20618" y="8463"/>
                    </a:lnTo>
                    <a:cubicBezTo>
                      <a:pt x="21160" y="8463"/>
                      <a:pt x="21600" y="7990"/>
                      <a:pt x="21600" y="7406"/>
                    </a:cubicBezTo>
                    <a:lnTo>
                      <a:pt x="21600" y="5293"/>
                    </a:lnTo>
                    <a:cubicBezTo>
                      <a:pt x="21600" y="4709"/>
                      <a:pt x="21160" y="4236"/>
                      <a:pt x="20618" y="423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68" name="Google Shape;168;p5"/>
            <p:cNvSpPr/>
            <p:nvPr/>
          </p:nvSpPr>
          <p:spPr>
            <a:xfrm>
              <a:off x="6833217" y="4473585"/>
              <a:ext cx="4951800" cy="69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3F3F3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管理端作業流程繁瑣，商品、庫存與訂單難以即時掌控</a:t>
              </a:r>
              <a:endParaRPr sz="1200" b="0" i="0" u="none" strike="noStrike" cap="non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9" name="Google Shape;169;p5"/>
          <p:cNvSpPr txBox="1"/>
          <p:nvPr/>
        </p:nvSpPr>
        <p:spPr>
          <a:xfrm>
            <a:off x="2567628" y="275018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2814611" y="3420134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5"/>
          <p:cNvSpPr txBox="1">
            <a:spLocks noGrp="1"/>
          </p:cNvSpPr>
          <p:nvPr>
            <p:ph type="title"/>
          </p:nvPr>
        </p:nvSpPr>
        <p:spPr>
          <a:xfrm>
            <a:off x="400050" y="-128341"/>
            <a:ext cx="7886700" cy="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Microsoft JhengHei"/>
              <a:buNone/>
            </a:pPr>
            <a:r>
              <a:rPr lang="en-US" sz="25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專題起源</a:t>
            </a:r>
            <a:endParaRPr sz="25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172" name="Google Shape;172;p5"/>
          <p:cNvGrpSpPr/>
          <p:nvPr/>
        </p:nvGrpSpPr>
        <p:grpSpPr>
          <a:xfrm>
            <a:off x="4578735" y="1703091"/>
            <a:ext cx="4071803" cy="371011"/>
            <a:chOff x="6329844" y="3207472"/>
            <a:chExt cx="5429070" cy="494682"/>
          </a:xfrm>
        </p:grpSpPr>
        <p:grpSp>
          <p:nvGrpSpPr>
            <p:cNvPr id="173" name="Google Shape;173;p5"/>
            <p:cNvGrpSpPr/>
            <p:nvPr/>
          </p:nvGrpSpPr>
          <p:grpSpPr>
            <a:xfrm>
              <a:off x="6329844" y="3207472"/>
              <a:ext cx="494682" cy="494682"/>
              <a:chOff x="7214440" y="2889925"/>
              <a:chExt cx="413117" cy="413117"/>
            </a:xfrm>
          </p:grpSpPr>
          <p:sp>
            <p:nvSpPr>
              <p:cNvPr id="174" name="Google Shape;174;p5"/>
              <p:cNvSpPr/>
              <p:nvPr/>
            </p:nvSpPr>
            <p:spPr>
              <a:xfrm>
                <a:off x="7214440" y="2889925"/>
                <a:ext cx="413117" cy="41311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7300764" y="2976259"/>
                <a:ext cx="240468" cy="24044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0618" y="19636"/>
                    </a:moveTo>
                    <a:cubicBezTo>
                      <a:pt x="20618" y="20179"/>
                      <a:pt x="20178" y="20619"/>
                      <a:pt x="19636" y="20619"/>
                    </a:cubicBezTo>
                    <a:lnTo>
                      <a:pt x="1964" y="20619"/>
                    </a:lnTo>
                    <a:cubicBezTo>
                      <a:pt x="1421" y="20619"/>
                      <a:pt x="982" y="20179"/>
                      <a:pt x="982" y="19636"/>
                    </a:cubicBezTo>
                    <a:lnTo>
                      <a:pt x="982" y="1964"/>
                    </a:lnTo>
                    <a:cubicBezTo>
                      <a:pt x="982" y="1422"/>
                      <a:pt x="1421" y="982"/>
                      <a:pt x="1964" y="982"/>
                    </a:cubicBezTo>
                    <a:lnTo>
                      <a:pt x="19636" y="982"/>
                    </a:lnTo>
                    <a:cubicBezTo>
                      <a:pt x="20178" y="982"/>
                      <a:pt x="20618" y="1422"/>
                      <a:pt x="20618" y="1964"/>
                    </a:cubicBezTo>
                    <a:cubicBezTo>
                      <a:pt x="20618" y="1964"/>
                      <a:pt x="20618" y="19636"/>
                      <a:pt x="20618" y="19636"/>
                    </a:cubicBezTo>
                    <a:close/>
                    <a:moveTo>
                      <a:pt x="19636" y="0"/>
                    </a:moveTo>
                    <a:lnTo>
                      <a:pt x="1964" y="0"/>
                    </a:lnTo>
                    <a:cubicBezTo>
                      <a:pt x="879" y="0"/>
                      <a:pt x="0" y="879"/>
                      <a:pt x="0" y="1964"/>
                    </a:cubicBezTo>
                    <a:lnTo>
                      <a:pt x="0" y="19636"/>
                    </a:lnTo>
                    <a:cubicBezTo>
                      <a:pt x="0" y="20721"/>
                      <a:pt x="879" y="21600"/>
                      <a:pt x="1964" y="21600"/>
                    </a:cubicBezTo>
                    <a:lnTo>
                      <a:pt x="19636" y="21600"/>
                    </a:lnTo>
                    <a:cubicBezTo>
                      <a:pt x="20721" y="21600"/>
                      <a:pt x="21600" y="20721"/>
                      <a:pt x="21600" y="19636"/>
                    </a:cubicBezTo>
                    <a:lnTo>
                      <a:pt x="21600" y="1964"/>
                    </a:lnTo>
                    <a:cubicBezTo>
                      <a:pt x="21600" y="879"/>
                      <a:pt x="20721" y="0"/>
                      <a:pt x="19636" y="0"/>
                    </a:cubicBezTo>
                    <a:moveTo>
                      <a:pt x="4294" y="17673"/>
                    </a:moveTo>
                    <a:lnTo>
                      <a:pt x="8376" y="10732"/>
                    </a:lnTo>
                    <a:lnTo>
                      <a:pt x="10838" y="14425"/>
                    </a:lnTo>
                    <a:cubicBezTo>
                      <a:pt x="10862" y="14484"/>
                      <a:pt x="10898" y="14536"/>
                      <a:pt x="10942" y="14581"/>
                    </a:cubicBezTo>
                    <a:lnTo>
                      <a:pt x="10944" y="14583"/>
                    </a:lnTo>
                    <a:cubicBezTo>
                      <a:pt x="11033" y="14673"/>
                      <a:pt x="11155" y="14727"/>
                      <a:pt x="11291" y="14727"/>
                    </a:cubicBezTo>
                    <a:cubicBezTo>
                      <a:pt x="11427" y="14727"/>
                      <a:pt x="11549" y="14673"/>
                      <a:pt x="11638" y="14583"/>
                    </a:cubicBezTo>
                    <a:lnTo>
                      <a:pt x="13686" y="12536"/>
                    </a:lnTo>
                    <a:lnTo>
                      <a:pt x="17242" y="17673"/>
                    </a:lnTo>
                    <a:cubicBezTo>
                      <a:pt x="17242" y="17673"/>
                      <a:pt x="4294" y="17673"/>
                      <a:pt x="4294" y="17673"/>
                    </a:cubicBezTo>
                    <a:close/>
                    <a:moveTo>
                      <a:pt x="18620" y="17982"/>
                    </a:moveTo>
                    <a:lnTo>
                      <a:pt x="18617" y="17978"/>
                    </a:lnTo>
                    <a:cubicBezTo>
                      <a:pt x="18590" y="17913"/>
                      <a:pt x="18551" y="17858"/>
                      <a:pt x="18501" y="17810"/>
                    </a:cubicBezTo>
                    <a:lnTo>
                      <a:pt x="14201" y="11600"/>
                    </a:lnTo>
                    <a:lnTo>
                      <a:pt x="14200" y="11601"/>
                    </a:lnTo>
                    <a:cubicBezTo>
                      <a:pt x="14127" y="11420"/>
                      <a:pt x="13952" y="11291"/>
                      <a:pt x="13745" y="11291"/>
                    </a:cubicBezTo>
                    <a:cubicBezTo>
                      <a:pt x="13610" y="11291"/>
                      <a:pt x="13488" y="11346"/>
                      <a:pt x="13398" y="11435"/>
                    </a:cubicBezTo>
                    <a:lnTo>
                      <a:pt x="11360" y="13473"/>
                    </a:lnTo>
                    <a:lnTo>
                      <a:pt x="8798" y="9630"/>
                    </a:lnTo>
                    <a:cubicBezTo>
                      <a:pt x="8724" y="9453"/>
                      <a:pt x="8550" y="9327"/>
                      <a:pt x="8345" y="9327"/>
                    </a:cubicBezTo>
                    <a:cubicBezTo>
                      <a:pt x="8175" y="9327"/>
                      <a:pt x="8033" y="9420"/>
                      <a:pt x="7945" y="9551"/>
                    </a:cubicBezTo>
                    <a:lnTo>
                      <a:pt x="7937" y="9546"/>
                    </a:lnTo>
                    <a:lnTo>
                      <a:pt x="3028" y="17891"/>
                    </a:lnTo>
                    <a:lnTo>
                      <a:pt x="3036" y="17897"/>
                    </a:lnTo>
                    <a:cubicBezTo>
                      <a:pt x="2983" y="17974"/>
                      <a:pt x="2945" y="18063"/>
                      <a:pt x="2945" y="18164"/>
                    </a:cubicBezTo>
                    <a:cubicBezTo>
                      <a:pt x="2945" y="18435"/>
                      <a:pt x="3165" y="18655"/>
                      <a:pt x="3436" y="18655"/>
                    </a:cubicBezTo>
                    <a:lnTo>
                      <a:pt x="18164" y="18655"/>
                    </a:lnTo>
                    <a:cubicBezTo>
                      <a:pt x="18435" y="18655"/>
                      <a:pt x="18655" y="18435"/>
                      <a:pt x="18655" y="18164"/>
                    </a:cubicBezTo>
                    <a:cubicBezTo>
                      <a:pt x="18655" y="18099"/>
                      <a:pt x="18640" y="18039"/>
                      <a:pt x="18618" y="17983"/>
                    </a:cubicBezTo>
                    <a:cubicBezTo>
                      <a:pt x="18618" y="17983"/>
                      <a:pt x="18620" y="17982"/>
                      <a:pt x="18620" y="17982"/>
                    </a:cubicBezTo>
                    <a:close/>
                    <a:moveTo>
                      <a:pt x="5400" y="3927"/>
                    </a:moveTo>
                    <a:cubicBezTo>
                      <a:pt x="6213" y="3927"/>
                      <a:pt x="6873" y="4587"/>
                      <a:pt x="6873" y="5400"/>
                    </a:cubicBezTo>
                    <a:cubicBezTo>
                      <a:pt x="6873" y="6214"/>
                      <a:pt x="6213" y="6873"/>
                      <a:pt x="5400" y="6873"/>
                    </a:cubicBezTo>
                    <a:cubicBezTo>
                      <a:pt x="4587" y="6873"/>
                      <a:pt x="3927" y="6214"/>
                      <a:pt x="3927" y="5400"/>
                    </a:cubicBezTo>
                    <a:cubicBezTo>
                      <a:pt x="3927" y="4587"/>
                      <a:pt x="4587" y="3927"/>
                      <a:pt x="5400" y="3927"/>
                    </a:cubicBezTo>
                    <a:moveTo>
                      <a:pt x="5400" y="7855"/>
                    </a:moveTo>
                    <a:cubicBezTo>
                      <a:pt x="6756" y="7855"/>
                      <a:pt x="7855" y="6756"/>
                      <a:pt x="7855" y="5400"/>
                    </a:cubicBezTo>
                    <a:cubicBezTo>
                      <a:pt x="7855" y="4045"/>
                      <a:pt x="6756" y="2945"/>
                      <a:pt x="5400" y="2945"/>
                    </a:cubicBezTo>
                    <a:cubicBezTo>
                      <a:pt x="4044" y="2945"/>
                      <a:pt x="2945" y="4045"/>
                      <a:pt x="2945" y="5400"/>
                    </a:cubicBezTo>
                    <a:cubicBezTo>
                      <a:pt x="2945" y="6756"/>
                      <a:pt x="4044" y="7855"/>
                      <a:pt x="5400" y="7855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76" name="Google Shape;176;p5"/>
            <p:cNvSpPr/>
            <p:nvPr/>
          </p:nvSpPr>
          <p:spPr>
            <a:xfrm>
              <a:off x="6824515" y="3273684"/>
              <a:ext cx="4934399" cy="418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rgbClr val="3F3F3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商品種類與資訊繁雜，使用者難以快速定位合適產品</a:t>
              </a:r>
              <a:endParaRPr sz="1200" b="0" i="0" u="none" strike="noStrike" cap="none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sp>
        <p:nvSpPr>
          <p:cNvPr id="177" name="Google Shape;177;p5"/>
          <p:cNvSpPr/>
          <p:nvPr/>
        </p:nvSpPr>
        <p:spPr>
          <a:xfrm>
            <a:off x="4632275" y="3597013"/>
            <a:ext cx="3700800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基於以上幾點，我們希望打造一個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：</a:t>
            </a:r>
            <a:endParaRPr sz="12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商品比較、補貨提醒、主題性文章等功能整合購物的電商平台，讓使用者不只買到適合的產品，更能持續維持健康習慣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。</a:t>
            </a:r>
            <a:endParaRPr sz="1300" b="0" i="0" u="none" strike="noStrike" cap="none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412" y="672488"/>
            <a:ext cx="3700800" cy="3913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25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185" name="Google Shape;185;p25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7" name="Google Shape;187;p25"/>
          <p:cNvSpPr txBox="1"/>
          <p:nvPr/>
        </p:nvSpPr>
        <p:spPr>
          <a:xfrm>
            <a:off x="990600" y="2175974"/>
            <a:ext cx="10149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5100" b="1" i="0" u="none" strike="noStrike" cap="non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3581400" y="2114550"/>
            <a:ext cx="4724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網站地圖</a:t>
            </a:r>
            <a:endParaRPr sz="3200" b="1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6D5FF81-5FEC-45F2-BA50-30E9BF7CC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384" y="-133350"/>
            <a:ext cx="10142010" cy="5704881"/>
          </a:xfrm>
          <a:prstGeom prst="rect">
            <a:avLst/>
          </a:prstGeom>
        </p:spPr>
      </p:pic>
      <p:sp>
        <p:nvSpPr>
          <p:cNvPr id="195" name="Google Shape;195;p7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Microsoft JhengHei"/>
              <a:buNone/>
            </a:pPr>
            <a:r>
              <a:rPr lang="en-US" sz="25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網站地圖</a:t>
            </a:r>
            <a:br>
              <a:rPr lang="en-US" sz="2500" b="1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25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使用者地圖</a:t>
            </a:r>
            <a:endParaRPr sz="2500" b="1" dirty="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CD8F1E9-FE53-4CFB-BCE0-F69A78E67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2408" y="-1060163"/>
            <a:ext cx="12161586" cy="7263826"/>
          </a:xfrm>
          <a:prstGeom prst="rect">
            <a:avLst/>
          </a:prstGeom>
        </p:spPr>
      </p:pic>
      <p:sp>
        <p:nvSpPr>
          <p:cNvPr id="195" name="Google Shape;195;p7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Microsoft JhengHei"/>
              <a:buNone/>
            </a:pPr>
            <a:r>
              <a:rPr lang="en-US" sz="25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網站地圖</a:t>
            </a:r>
            <a:br>
              <a:rPr lang="en-US" sz="2500" b="1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altLang="en-US" sz="2500" b="1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後台管理員</a:t>
            </a:r>
            <a:r>
              <a:rPr lang="en-US" sz="25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地圖</a:t>
            </a:r>
            <a:endParaRPr sz="2500" b="1" dirty="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81198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4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210" name="Google Shape;210;p4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12" name="Google Shape;212;p4"/>
          <p:cNvSpPr txBox="1"/>
          <p:nvPr/>
        </p:nvSpPr>
        <p:spPr>
          <a:xfrm>
            <a:off x="984662" y="2193787"/>
            <a:ext cx="1016330" cy="64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3581400" y="2114550"/>
            <a:ext cx="4724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組員分工</a:t>
            </a:r>
            <a:endParaRPr sz="3200" b="1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 txBox="1">
            <a:spLocks noGrp="1"/>
          </p:cNvSpPr>
          <p:nvPr>
            <p:ph type="ftr" idx="4294967295"/>
          </p:nvPr>
        </p:nvSpPr>
        <p:spPr>
          <a:xfrm>
            <a:off x="0" y="4884738"/>
            <a:ext cx="3086100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</p:txBody>
      </p:sp>
      <p:sp>
        <p:nvSpPr>
          <p:cNvPr id="220" name="Google Shape;220;p43"/>
          <p:cNvSpPr txBox="1">
            <a:spLocks noGrp="1"/>
          </p:cNvSpPr>
          <p:nvPr>
            <p:ph type="sldNum" idx="4294967295"/>
          </p:nvPr>
        </p:nvSpPr>
        <p:spPr>
          <a:xfrm>
            <a:off x="0" y="4884738"/>
            <a:ext cx="254000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Montserrat"/>
                <a:ea typeface="Montserrat"/>
                <a:cs typeface="Montserrat"/>
                <a:sym typeface="Montserrat"/>
              </a:rPr>
              <a:t>9</a:t>
            </a:fld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43"/>
          <p:cNvSpPr/>
          <p:nvPr/>
        </p:nvSpPr>
        <p:spPr>
          <a:xfrm rot="5400000">
            <a:off x="4518863" y="-1696326"/>
            <a:ext cx="163500" cy="8715300"/>
          </a:xfrm>
          <a:prstGeom prst="can">
            <a:avLst>
              <a:gd name="adj" fmla="val 25000"/>
            </a:avLst>
          </a:prstGeom>
          <a:solidFill>
            <a:srgbClr val="F2F2F2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43"/>
          <p:cNvSpPr/>
          <p:nvPr/>
        </p:nvSpPr>
        <p:spPr>
          <a:xfrm rot="5400000">
            <a:off x="3748787" y="1365136"/>
            <a:ext cx="1214400" cy="1214400"/>
          </a:xfrm>
          <a:prstGeom prst="teardrop">
            <a:avLst>
              <a:gd name="adj" fmla="val 100000"/>
            </a:avLst>
          </a:prstGeom>
          <a:solidFill>
            <a:srgbClr val="A6BCC1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43"/>
          <p:cNvSpPr/>
          <p:nvPr/>
        </p:nvSpPr>
        <p:spPr>
          <a:xfrm>
            <a:off x="1176352" y="2743125"/>
            <a:ext cx="805500" cy="510600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商品</a:t>
            </a:r>
            <a:endParaRPr sz="1200"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1137850" y="3252061"/>
            <a:ext cx="49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負責</a:t>
            </a:r>
            <a:endParaRPr sz="1200" b="1" i="0" u="none" strike="noStrike" cap="none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5" name="Google Shape;225;p43"/>
          <p:cNvSpPr/>
          <p:nvPr/>
        </p:nvSpPr>
        <p:spPr>
          <a:xfrm>
            <a:off x="1038156" y="3491986"/>
            <a:ext cx="12771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使用者首頁、商品資訊</a:t>
            </a:r>
            <a:endParaRPr sz="1200" b="0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6" name="Google Shape;226;p43"/>
          <p:cNvSpPr/>
          <p:nvPr/>
        </p:nvSpPr>
        <p:spPr>
          <a:xfrm>
            <a:off x="4143650" y="2741325"/>
            <a:ext cx="805500" cy="510600"/>
          </a:xfrm>
          <a:prstGeom prst="teardrop">
            <a:avLst>
              <a:gd name="adj" fmla="val 100000"/>
            </a:avLst>
          </a:prstGeom>
          <a:solidFill>
            <a:schemeClr val="accent4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</a:t>
            </a:r>
            <a:endParaRPr sz="1350"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7" name="Google Shape;227;p43"/>
          <p:cNvSpPr txBox="1"/>
          <p:nvPr/>
        </p:nvSpPr>
        <p:spPr>
          <a:xfrm>
            <a:off x="4105065" y="3250187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負責</a:t>
            </a:r>
            <a:endParaRPr sz="1200" b="1" i="0" u="none" strike="noStrike" cap="none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8" name="Google Shape;228;p43"/>
          <p:cNvSpPr/>
          <p:nvPr/>
        </p:nvSpPr>
        <p:spPr>
          <a:xfrm>
            <a:off x="3964339" y="3514088"/>
            <a:ext cx="1603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1.使用者登入與註冊</a:t>
            </a:r>
            <a:br>
              <a:rPr lang="en-US" sz="12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12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2.後台會員管理</a:t>
            </a:r>
            <a:br>
              <a:rPr lang="en-US" sz="12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12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3.後台管理員登入</a:t>
            </a:r>
            <a:endParaRPr sz="1200" b="0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9" name="Google Shape;229;p43"/>
          <p:cNvSpPr/>
          <p:nvPr/>
        </p:nvSpPr>
        <p:spPr>
          <a:xfrm>
            <a:off x="5522254" y="2733585"/>
            <a:ext cx="992846" cy="510600"/>
          </a:xfrm>
          <a:prstGeom prst="teardrop">
            <a:avLst>
              <a:gd name="adj" fmla="val 100000"/>
            </a:avLst>
          </a:prstGeom>
          <a:solidFill>
            <a:srgbClr val="7FA99B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購物車</a:t>
            </a:r>
            <a:endParaRPr sz="1350"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0" name="Google Shape;230;p43"/>
          <p:cNvSpPr txBox="1"/>
          <p:nvPr/>
        </p:nvSpPr>
        <p:spPr>
          <a:xfrm>
            <a:off x="5588672" y="3248314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負責</a:t>
            </a:r>
            <a:endParaRPr sz="1200" b="1" i="0" u="none" strike="noStrike" cap="none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1" name="Google Shape;231;p43"/>
          <p:cNvSpPr/>
          <p:nvPr/>
        </p:nvSpPr>
        <p:spPr>
          <a:xfrm>
            <a:off x="5488977" y="3488239"/>
            <a:ext cx="13398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使用者購物車</a:t>
            </a:r>
            <a:endParaRPr sz="1200" b="0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2" name="Google Shape;232;p43"/>
          <p:cNvSpPr/>
          <p:nvPr/>
        </p:nvSpPr>
        <p:spPr>
          <a:xfrm>
            <a:off x="7139012" y="2727688"/>
            <a:ext cx="805500" cy="510600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結帳</a:t>
            </a:r>
            <a:endParaRPr sz="1350"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3" name="Google Shape;233;p43"/>
          <p:cNvSpPr txBox="1"/>
          <p:nvPr/>
        </p:nvSpPr>
        <p:spPr>
          <a:xfrm>
            <a:off x="7072279" y="3252061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負責</a:t>
            </a:r>
            <a:endParaRPr sz="1200" b="1" i="0" u="none" strike="noStrike" cap="none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4" name="Google Shape;234;p43"/>
          <p:cNvSpPr/>
          <p:nvPr/>
        </p:nvSpPr>
        <p:spPr>
          <a:xfrm>
            <a:off x="6972574" y="3491975"/>
            <a:ext cx="1385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使用者結帳</a:t>
            </a:r>
            <a:br>
              <a:rPr lang="en-US" sz="1200" b="0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sz="1200" b="0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5" name="Google Shape;235;p43"/>
          <p:cNvSpPr txBox="1"/>
          <p:nvPr/>
        </p:nvSpPr>
        <p:spPr>
          <a:xfrm>
            <a:off x="3798756" y="1757876"/>
            <a:ext cx="1198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劉森豪</a:t>
            </a:r>
            <a:endParaRPr sz="135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6" name="Google Shape;236;p43"/>
          <p:cNvSpPr txBox="1"/>
          <p:nvPr/>
        </p:nvSpPr>
        <p:spPr>
          <a:xfrm>
            <a:off x="2284157" y="227634"/>
            <a:ext cx="4575686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組員分工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7" name="Google Shape;237;p43"/>
          <p:cNvSpPr/>
          <p:nvPr/>
        </p:nvSpPr>
        <p:spPr>
          <a:xfrm rot="5400000">
            <a:off x="767452" y="1365123"/>
            <a:ext cx="1214400" cy="1214400"/>
          </a:xfrm>
          <a:prstGeom prst="teardrop">
            <a:avLst>
              <a:gd name="adj" fmla="val 100000"/>
            </a:avLst>
          </a:prstGeom>
          <a:solidFill>
            <a:srgbClr val="A6BCC1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43"/>
          <p:cNvSpPr txBox="1"/>
          <p:nvPr/>
        </p:nvSpPr>
        <p:spPr>
          <a:xfrm>
            <a:off x="817421" y="1757863"/>
            <a:ext cx="1198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簡懷恩</a:t>
            </a:r>
            <a:endParaRPr sz="135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9" name="Google Shape;239;p43"/>
          <p:cNvSpPr/>
          <p:nvPr/>
        </p:nvSpPr>
        <p:spPr>
          <a:xfrm rot="5400000">
            <a:off x="6696353" y="1365149"/>
            <a:ext cx="1214400" cy="1214400"/>
          </a:xfrm>
          <a:prstGeom prst="teardrop">
            <a:avLst>
              <a:gd name="adj" fmla="val 100000"/>
            </a:avLst>
          </a:prstGeom>
          <a:solidFill>
            <a:srgbClr val="A6BCC1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43"/>
          <p:cNvSpPr txBox="1"/>
          <p:nvPr/>
        </p:nvSpPr>
        <p:spPr>
          <a:xfrm>
            <a:off x="6746322" y="1757889"/>
            <a:ext cx="1198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宋柏毅</a:t>
            </a:r>
            <a:endParaRPr sz="135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g3b22b6f32d6_1_20"/>
          <p:cNvGrpSpPr/>
          <p:nvPr/>
        </p:nvGrpSpPr>
        <p:grpSpPr>
          <a:xfrm>
            <a:off x="-58652" y="-27977"/>
            <a:ext cx="2878149" cy="5177790"/>
            <a:chOff x="-58652" y="-27977"/>
            <a:chExt cx="4596214" cy="5177790"/>
          </a:xfrm>
        </p:grpSpPr>
        <p:sp>
          <p:nvSpPr>
            <p:cNvPr id="247" name="Google Shape;247;g3b22b6f32d6_1_20"/>
            <p:cNvSpPr/>
            <p:nvPr/>
          </p:nvSpPr>
          <p:spPr>
            <a:xfrm>
              <a:off x="267904" y="-25298"/>
              <a:ext cx="4269658" cy="5160645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8" name="Google Shape;248;g3b22b6f32d6_1_20"/>
            <p:cNvSpPr/>
            <p:nvPr/>
          </p:nvSpPr>
          <p:spPr>
            <a:xfrm>
              <a:off x="-58652" y="-27977"/>
              <a:ext cx="4269658" cy="5177790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49" name="Google Shape;249;g3b22b6f32d6_1_20"/>
          <p:cNvSpPr txBox="1"/>
          <p:nvPr/>
        </p:nvSpPr>
        <p:spPr>
          <a:xfrm>
            <a:off x="990600" y="2175975"/>
            <a:ext cx="11403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5100" b="1" i="0" u="none" strike="noStrike" cap="non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g3b22b6f32d6_1_20"/>
          <p:cNvSpPr txBox="1"/>
          <p:nvPr/>
        </p:nvSpPr>
        <p:spPr>
          <a:xfrm>
            <a:off x="3581400" y="2114550"/>
            <a:ext cx="4724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ER MODEL</a:t>
            </a:r>
            <a:endParaRPr sz="3200" b="1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18" y="0"/>
            <a:ext cx="854876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 txBox="1"/>
          <p:nvPr/>
        </p:nvSpPr>
        <p:spPr>
          <a:xfrm>
            <a:off x="3128132" y="303670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41"/>
          <p:cNvSpPr txBox="1"/>
          <p:nvPr/>
        </p:nvSpPr>
        <p:spPr>
          <a:xfrm>
            <a:off x="2567628" y="275018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41"/>
          <p:cNvSpPr txBox="1"/>
          <p:nvPr/>
        </p:nvSpPr>
        <p:spPr>
          <a:xfrm>
            <a:off x="2814611" y="3420134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41"/>
          <p:cNvSpPr txBox="1">
            <a:spLocks noGrp="1"/>
          </p:cNvSpPr>
          <p:nvPr>
            <p:ph type="title"/>
          </p:nvPr>
        </p:nvSpPr>
        <p:spPr>
          <a:xfrm>
            <a:off x="133225" y="259283"/>
            <a:ext cx="1850920" cy="26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ER MODEL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9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267" name="Google Shape;267;p9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69" name="Google Shape;269;p9"/>
          <p:cNvSpPr txBox="1"/>
          <p:nvPr/>
        </p:nvSpPr>
        <p:spPr>
          <a:xfrm>
            <a:off x="990600" y="2175974"/>
            <a:ext cx="1117270" cy="64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3581400" y="2114550"/>
            <a:ext cx="51408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商品功能流程與ER MODEL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"/>
          <p:cNvSpPr txBox="1"/>
          <p:nvPr/>
        </p:nvSpPr>
        <p:spPr>
          <a:xfrm>
            <a:off x="3128132" y="303670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2567628" y="275018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2810857" y="3443885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10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商品功能流程圖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80" name="Google Shape;2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4850" y="55263"/>
            <a:ext cx="4262249" cy="503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g3aad698f54b_3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2015" y="730155"/>
            <a:ext cx="7076368" cy="427999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aad698f54b_3_8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首頁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1340780fc_2_4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商品</a:t>
            </a:r>
            <a:r>
              <a:rPr lang="zh-TW" altLang="en-US" sz="2800" b="1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詳情頁</a:t>
            </a:r>
            <a:endParaRPr sz="2800" b="1" dirty="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94" name="Google Shape;294;g3b1340780fc_2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268" y="811191"/>
            <a:ext cx="6639463" cy="427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3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商品功能</a:t>
            </a:r>
            <a:b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ER MODEL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01" name="Google Shape;301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157" y="91350"/>
            <a:ext cx="467118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100"/>
          <p:cNvGrpSpPr/>
          <p:nvPr/>
        </p:nvGrpSpPr>
        <p:grpSpPr>
          <a:xfrm>
            <a:off x="-76464" y="-27977"/>
            <a:ext cx="2878052" cy="5171477"/>
            <a:chOff x="-58652" y="-27977"/>
            <a:chExt cx="4596214" cy="5171477"/>
          </a:xfrm>
        </p:grpSpPr>
        <p:sp>
          <p:nvSpPr>
            <p:cNvPr id="308" name="Google Shape;308;p100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9" name="Google Shape;309;p100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10" name="Google Shape;310;p100"/>
          <p:cNvSpPr txBox="1"/>
          <p:nvPr/>
        </p:nvSpPr>
        <p:spPr>
          <a:xfrm>
            <a:off x="990600" y="2175974"/>
            <a:ext cx="10791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sz="5100" b="1" i="0" u="none" strike="noStrike" cap="non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100"/>
          <p:cNvSpPr txBox="1"/>
          <p:nvPr/>
        </p:nvSpPr>
        <p:spPr>
          <a:xfrm>
            <a:off x="3372472" y="2019172"/>
            <a:ext cx="577152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會員功能流程、後台會員管理與ER MODEL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11" title="登入註冊流程圖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7629" y="76200"/>
            <a:ext cx="6396971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1"/>
          <p:cNvSpPr txBox="1"/>
          <p:nvPr/>
        </p:nvSpPr>
        <p:spPr>
          <a:xfrm>
            <a:off x="3128132" y="303670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11"/>
          <p:cNvSpPr txBox="1"/>
          <p:nvPr/>
        </p:nvSpPr>
        <p:spPr>
          <a:xfrm>
            <a:off x="2567628" y="275018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2814611" y="3420134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11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會員註冊/登入功能流程圖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1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會員註冊</a:t>
            </a:r>
            <a:endParaRPr sz="2800" b="1" dirty="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28" name="Google Shape;328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331" y="813806"/>
            <a:ext cx="7915701" cy="4329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13c246361_1_0"/>
          <p:cNvSpPr txBox="1">
            <a:spLocks noGrp="1"/>
          </p:cNvSpPr>
          <p:nvPr>
            <p:ph type="title"/>
          </p:nvPr>
        </p:nvSpPr>
        <p:spPr>
          <a:xfrm>
            <a:off x="64401" y="133350"/>
            <a:ext cx="34281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會員註冊輸入驗證</a:t>
            </a:r>
            <a:endParaRPr sz="2800" b="1" dirty="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35" name="Google Shape;335;g3b13c246361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3853" y="832319"/>
            <a:ext cx="5576293" cy="4177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864" y="745002"/>
            <a:ext cx="7956645" cy="4265147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2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會員登入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13c246361_1_7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會員登入驗證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49" name="Google Shape;349;g3b13c246361_1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396" y="1056960"/>
            <a:ext cx="7185207" cy="3711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13c246361_1_44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會員忘記密碼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56" name="Google Shape;356;g3b13c246361_1_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92" y="1426643"/>
            <a:ext cx="4507608" cy="3013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g3b13c246361_1_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2638" y="1426643"/>
            <a:ext cx="4366970" cy="3013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會員查看資訊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64" name="Google Shape;36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055" y="968251"/>
            <a:ext cx="8115890" cy="3801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會員更改密碼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71" name="Google Shape;37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6192" y="745071"/>
            <a:ext cx="5958025" cy="441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會員停用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78" name="Google Shape;37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8867" y="885645"/>
            <a:ext cx="4566265" cy="390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會員查看訂單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85" name="Google Shape;38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2023" y="720553"/>
            <a:ext cx="7439954" cy="4398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3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245478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會員功能ER</a:t>
            </a:r>
            <a:r>
              <a:rPr lang="en-US" sz="2800" b="1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MODEL</a:t>
            </a:r>
            <a:endParaRPr sz="2800" b="1" dirty="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92" name="Google Shape;392;p103" title="會員註冊登入ermode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20695"/>
            <a:ext cx="8458424" cy="387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03"/>
          <p:cNvSpPr txBox="1"/>
          <p:nvPr/>
        </p:nvSpPr>
        <p:spPr>
          <a:xfrm>
            <a:off x="4876425" y="1318275"/>
            <a:ext cx="2044800" cy="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member</a:t>
            </a:r>
            <a:endParaRPr sz="7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g3b22b6f32d6_1_43" title="後台管理員登入功能流程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441" y="152400"/>
            <a:ext cx="7932158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b22b6f32d6_1_43"/>
          <p:cNvSpPr txBox="1"/>
          <p:nvPr/>
        </p:nvSpPr>
        <p:spPr>
          <a:xfrm>
            <a:off x="3128132" y="3036702"/>
            <a:ext cx="634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g3b22b6f32d6_1_43"/>
          <p:cNvSpPr txBox="1"/>
          <p:nvPr/>
        </p:nvSpPr>
        <p:spPr>
          <a:xfrm>
            <a:off x="2567628" y="2750182"/>
            <a:ext cx="634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g3b22b6f32d6_1_43"/>
          <p:cNvSpPr txBox="1"/>
          <p:nvPr/>
        </p:nvSpPr>
        <p:spPr>
          <a:xfrm>
            <a:off x="2814611" y="3420134"/>
            <a:ext cx="634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g3b22b6f32d6_1_43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後台管理員登入功能流程圖</a:t>
            </a:r>
            <a:endParaRPr sz="2800" b="1" dirty="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13c246361_1_38"/>
          <p:cNvSpPr txBox="1">
            <a:spLocks noGrp="1"/>
          </p:cNvSpPr>
          <p:nvPr>
            <p:ph type="title"/>
          </p:nvPr>
        </p:nvSpPr>
        <p:spPr>
          <a:xfrm>
            <a:off x="173574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後台管理員登入</a:t>
            </a:r>
            <a:endParaRPr sz="2800" b="1" dirty="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10" name="Google Shape;410;g3b13c246361_1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5389" y="807522"/>
            <a:ext cx="6533221" cy="4335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4"/>
          <p:cNvSpPr txBox="1">
            <a:spLocks noGrp="1"/>
          </p:cNvSpPr>
          <p:nvPr>
            <p:ph type="title"/>
          </p:nvPr>
        </p:nvSpPr>
        <p:spPr>
          <a:xfrm>
            <a:off x="49292" y="90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後台管理員</a:t>
            </a:r>
            <a:br>
              <a:rPr lang="en-US" sz="2800" b="1" dirty="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2800" b="1" dirty="0" err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查看會員列表</a:t>
            </a:r>
            <a:endParaRPr sz="2800" b="1" dirty="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17" name="Google Shape;417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886" y="951419"/>
            <a:ext cx="7000227" cy="4101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05"/>
          <p:cNvSpPr txBox="1">
            <a:spLocks noGrp="1"/>
          </p:cNvSpPr>
          <p:nvPr>
            <p:ph type="title"/>
          </p:nvPr>
        </p:nvSpPr>
        <p:spPr>
          <a:xfrm>
            <a:off x="0" y="184724"/>
            <a:ext cx="38070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後台管理員</a:t>
            </a:r>
            <a:b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會員關鍵字查詢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24" name="Google Shape;424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972" y="1009114"/>
            <a:ext cx="8290056" cy="4134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>
            <a:spLocks noGrp="1"/>
          </p:cNvSpPr>
          <p:nvPr>
            <p:ph type="title"/>
          </p:nvPr>
        </p:nvSpPr>
        <p:spPr>
          <a:xfrm>
            <a:off x="0" y="184724"/>
            <a:ext cx="38070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後台管理員</a:t>
            </a:r>
            <a:b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更改會員狀態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31" name="Google Shape;43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061" y="1323903"/>
            <a:ext cx="3807000" cy="339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5906" y="1671354"/>
            <a:ext cx="4879160" cy="304447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9"/>
          <p:cNvSpPr/>
          <p:nvPr/>
        </p:nvSpPr>
        <p:spPr>
          <a:xfrm>
            <a:off x="7321256" y="2571750"/>
            <a:ext cx="551062" cy="381505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1648667" y="2687816"/>
            <a:ext cx="551062" cy="381505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13c246361_1_57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後台管理員功能</a:t>
            </a:r>
            <a:b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ER MODEL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41" name="Google Shape;441;g3b13c246361_1_57" title="螢幕擷取畫面 2025-12-19 02083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25" y="894401"/>
            <a:ext cx="7702304" cy="387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107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448" name="Google Shape;448;p107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9" name="Google Shape;449;p107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50" name="Google Shape;450;p107"/>
          <p:cNvSpPr txBox="1"/>
          <p:nvPr/>
        </p:nvSpPr>
        <p:spPr>
          <a:xfrm>
            <a:off x="990600" y="2175974"/>
            <a:ext cx="10791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 sz="5100" b="1" i="0" u="none" strike="noStrike" cap="non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107"/>
          <p:cNvSpPr txBox="1"/>
          <p:nvPr/>
        </p:nvSpPr>
        <p:spPr>
          <a:xfrm>
            <a:off x="3230088" y="2114550"/>
            <a:ext cx="561121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購物車功能流程及ER MODEL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"/>
          <p:cNvSpPr txBox="1"/>
          <p:nvPr/>
        </p:nvSpPr>
        <p:spPr>
          <a:xfrm>
            <a:off x="3128132" y="303670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2567628" y="275018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15"/>
          <p:cNvSpPr txBox="1"/>
          <p:nvPr/>
        </p:nvSpPr>
        <p:spPr>
          <a:xfrm>
            <a:off x="2814611" y="3420134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15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購物車功能流程圖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61" name="Google Shape;46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4352" y="371475"/>
            <a:ext cx="3912375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b14228b5f8_1_0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加入購物車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68" name="Google Shape;468;g3b14228b5f8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5345" y="1149695"/>
            <a:ext cx="6733309" cy="3744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"/>
          <p:cNvSpPr txBox="1"/>
          <p:nvPr/>
        </p:nvSpPr>
        <p:spPr>
          <a:xfrm>
            <a:off x="3128132" y="303670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20"/>
          <p:cNvSpPr txBox="1"/>
          <p:nvPr/>
        </p:nvSpPr>
        <p:spPr>
          <a:xfrm>
            <a:off x="2567628" y="275018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20"/>
          <p:cNvSpPr txBox="1"/>
          <p:nvPr/>
        </p:nvSpPr>
        <p:spPr>
          <a:xfrm>
            <a:off x="2814611" y="3420134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0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購物車(查看、增刪商品數量)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8" name="Google Shape;478;p20"/>
          <p:cNvSpPr txBox="1"/>
          <p:nvPr/>
        </p:nvSpPr>
        <p:spPr>
          <a:xfrm>
            <a:off x="7724500" y="3298425"/>
            <a:ext cx="2370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9" name="Google Shape;47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930" y="1466602"/>
            <a:ext cx="4448070" cy="2690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9614" y="1466602"/>
            <a:ext cx="4290031" cy="2690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9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購物車功能</a:t>
            </a:r>
            <a:b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ER MODEL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87" name="Google Shape;487;p109" title="購物車資料表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7650" y="320001"/>
            <a:ext cx="4610900" cy="42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111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494" name="Google Shape;494;p111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5" name="Google Shape;495;p111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96" name="Google Shape;496;p111"/>
          <p:cNvSpPr txBox="1"/>
          <p:nvPr/>
        </p:nvSpPr>
        <p:spPr>
          <a:xfrm>
            <a:off x="990600" y="2175974"/>
            <a:ext cx="10791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  <a:endParaRPr sz="5100" b="1" i="0" u="none" strike="noStrike" cap="non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111"/>
          <p:cNvSpPr txBox="1"/>
          <p:nvPr/>
        </p:nvSpPr>
        <p:spPr>
          <a:xfrm>
            <a:off x="3581399" y="2114550"/>
            <a:ext cx="52599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結帳功能流程與ER MODEL</a:t>
            </a:r>
            <a:endParaRPr sz="2800" b="1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3"/>
          <p:cNvSpPr txBox="1"/>
          <p:nvPr/>
        </p:nvSpPr>
        <p:spPr>
          <a:xfrm>
            <a:off x="3128132" y="303670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>
            <a:off x="2567628" y="2750182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13"/>
          <p:cNvSpPr txBox="1"/>
          <p:nvPr/>
        </p:nvSpPr>
        <p:spPr>
          <a:xfrm>
            <a:off x="2814611" y="3420134"/>
            <a:ext cx="634550" cy="22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13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結帳功能-流程圖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07" name="Google Shape;50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8164" y="162530"/>
            <a:ext cx="4293354" cy="48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060e457b9_0_1"/>
          <p:cNvSpPr txBox="1"/>
          <p:nvPr/>
        </p:nvSpPr>
        <p:spPr>
          <a:xfrm>
            <a:off x="3128132" y="3036702"/>
            <a:ext cx="634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g3b060e457b9_0_1"/>
          <p:cNvSpPr txBox="1"/>
          <p:nvPr/>
        </p:nvSpPr>
        <p:spPr>
          <a:xfrm>
            <a:off x="2567628" y="2750182"/>
            <a:ext cx="634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g3b060e457b9_0_1"/>
          <p:cNvSpPr txBox="1"/>
          <p:nvPr/>
        </p:nvSpPr>
        <p:spPr>
          <a:xfrm>
            <a:off x="2814611" y="3420134"/>
            <a:ext cx="634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g3b060e457b9_0_1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結帳畫面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17" name="Google Shape;517;g3b060e457b9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556" y="1255861"/>
            <a:ext cx="7344888" cy="2988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1d23ac307_0_12"/>
          <p:cNvSpPr txBox="1"/>
          <p:nvPr/>
        </p:nvSpPr>
        <p:spPr>
          <a:xfrm>
            <a:off x="3128132" y="3036702"/>
            <a:ext cx="634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g3b1d23ac307_0_12"/>
          <p:cNvSpPr txBox="1"/>
          <p:nvPr/>
        </p:nvSpPr>
        <p:spPr>
          <a:xfrm>
            <a:off x="2567628" y="2750182"/>
            <a:ext cx="634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g3b1d23ac307_0_12"/>
          <p:cNvSpPr txBox="1"/>
          <p:nvPr/>
        </p:nvSpPr>
        <p:spPr>
          <a:xfrm>
            <a:off x="2814611" y="3420134"/>
            <a:ext cx="634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g3b1d23ac307_0_12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結帳付款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27" name="Google Shape;527;g3b1d23ac307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5020" y="540629"/>
            <a:ext cx="3193960" cy="4419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2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740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結帳付款功能-</a:t>
            </a:r>
            <a:b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ER MODEL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34" name="Google Shape;534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6400" y="916751"/>
            <a:ext cx="6524874" cy="354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1d23ac307_0_3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結帳付款功能-</a:t>
            </a:r>
            <a:b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ER MODEL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41" name="Google Shape;541;g3b1d23ac307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8126" y="968250"/>
            <a:ext cx="5827949" cy="34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Google Shape;547;p44"/>
          <p:cNvGrpSpPr/>
          <p:nvPr/>
        </p:nvGrpSpPr>
        <p:grpSpPr>
          <a:xfrm>
            <a:off x="-58651" y="-27977"/>
            <a:ext cx="2878052" cy="5171477"/>
            <a:chOff x="-58652" y="-27977"/>
            <a:chExt cx="4596214" cy="5171477"/>
          </a:xfrm>
        </p:grpSpPr>
        <p:sp>
          <p:nvSpPr>
            <p:cNvPr id="548" name="Google Shape;548;p44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9" name="Google Shape;549;p44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50" name="Google Shape;550;p44"/>
          <p:cNvSpPr txBox="1"/>
          <p:nvPr/>
        </p:nvSpPr>
        <p:spPr>
          <a:xfrm>
            <a:off x="990600" y="2175974"/>
            <a:ext cx="1152896" cy="792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US" sz="51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4"/>
          <p:cNvSpPr txBox="1"/>
          <p:nvPr/>
        </p:nvSpPr>
        <p:spPr>
          <a:xfrm>
            <a:off x="3581400" y="2114550"/>
            <a:ext cx="4724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未來展望</a:t>
            </a:r>
            <a:endParaRPr sz="3200" b="1" i="0" u="none" strike="noStrike" cap="none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83b8ed623_0_9"/>
          <p:cNvSpPr/>
          <p:nvPr/>
        </p:nvSpPr>
        <p:spPr>
          <a:xfrm>
            <a:off x="0" y="0"/>
            <a:ext cx="2960296" cy="5177790"/>
          </a:xfrm>
          <a:custGeom>
            <a:avLst/>
            <a:gdLst/>
            <a:ahLst/>
            <a:cxnLst/>
            <a:rect l="l" t="t" r="r" b="b"/>
            <a:pathLst>
              <a:path w="5692877" h="6858000" extrusionOk="0">
                <a:moveTo>
                  <a:pt x="0" y="0"/>
                </a:moveTo>
                <a:lnTo>
                  <a:pt x="5079980" y="0"/>
                </a:lnTo>
                <a:cubicBezTo>
                  <a:pt x="6560158" y="721167"/>
                  <a:pt x="4579961" y="1908501"/>
                  <a:pt x="5647764" y="3024115"/>
                </a:cubicBezTo>
                <a:cubicBezTo>
                  <a:pt x="6119906" y="4104853"/>
                  <a:pt x="2701365" y="5580038"/>
                  <a:pt x="3980330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g3d83b8ed623_0_9"/>
          <p:cNvSpPr txBox="1">
            <a:spLocks noGrp="1"/>
          </p:cNvSpPr>
          <p:nvPr>
            <p:ph type="title"/>
          </p:nvPr>
        </p:nvSpPr>
        <p:spPr>
          <a:xfrm>
            <a:off x="64392" y="133351"/>
            <a:ext cx="30636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icrosoft JhengHei"/>
              <a:buNone/>
            </a:pPr>
            <a:r>
              <a:rPr lang="en-US" sz="28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未來展望</a:t>
            </a:r>
            <a:endParaRPr sz="28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9" name="Google Shape;559;g3d83b8ed623_0_9"/>
          <p:cNvSpPr txBox="1"/>
          <p:nvPr/>
        </p:nvSpPr>
        <p:spPr>
          <a:xfrm>
            <a:off x="3411035" y="671170"/>
            <a:ext cx="5381400" cy="383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待完成</a:t>
            </a:r>
            <a:br>
              <a:rPr 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br>
              <a:rPr 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2200" u="sng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商品功能</a:t>
            </a:r>
            <a:r>
              <a:rPr lang="en-US" sz="2200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 </a:t>
            </a:r>
            <a:br>
              <a:rPr lang="en-US" sz="2400" b="1" u="sng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1.前台商品分類瀏覽</a:t>
            </a:r>
            <a:br>
              <a:rPr lang="en-US" sz="21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18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2.後台商品上下架</a:t>
            </a:r>
            <a:br>
              <a:rPr lang="en-US" sz="18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br>
              <a:rPr lang="en-US" sz="2800" dirty="0">
                <a:solidFill>
                  <a:schemeClr val="dk1"/>
                </a:solidFill>
                <a:latin typeface="Montserrat"/>
                <a:ea typeface="Microsoft JhengHei"/>
                <a:cs typeface="Microsoft JhengHei"/>
                <a:sym typeface="Montserrat"/>
              </a:rPr>
            </a:br>
            <a:r>
              <a:rPr lang="zh-TW" altLang="en-US" sz="2200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結帳</a:t>
            </a:r>
            <a:r>
              <a:rPr lang="en-US" altLang="zh-TW" sz="2200" u="sng" dirty="0" err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</a:t>
            </a:r>
            <a:r>
              <a:rPr lang="en-US" altLang="zh-TW" sz="2200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800" b="1" u="sng" dirty="0">
              <a:solidFill>
                <a:schemeClr val="dk1"/>
              </a:solidFill>
              <a:latin typeface="Montserrat"/>
              <a:ea typeface="Microsoft JhengHei"/>
              <a:cs typeface="Microsoft JhengHei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dirty="0">
                <a:solidFill>
                  <a:schemeClr val="dk1"/>
                </a:solidFill>
                <a:latin typeface="Montserrat"/>
                <a:ea typeface="Microsoft JhengHei"/>
                <a:cs typeface="Microsoft JhengHei"/>
                <a:sym typeface="Montserrat"/>
              </a:rPr>
              <a:t>第三方綠界金流</a:t>
            </a: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</a:t>
            </a:r>
            <a:br>
              <a:rPr lang="en-US" sz="2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g3d83b8ed623_0_15"/>
          <p:cNvGrpSpPr/>
          <p:nvPr/>
        </p:nvGrpSpPr>
        <p:grpSpPr>
          <a:xfrm>
            <a:off x="-58652" y="-27977"/>
            <a:ext cx="2878149" cy="5177790"/>
            <a:chOff x="-58652" y="-27977"/>
            <a:chExt cx="4596214" cy="5177790"/>
          </a:xfrm>
        </p:grpSpPr>
        <p:sp>
          <p:nvSpPr>
            <p:cNvPr id="566" name="Google Shape;566;g3d83b8ed623_0_15"/>
            <p:cNvSpPr/>
            <p:nvPr/>
          </p:nvSpPr>
          <p:spPr>
            <a:xfrm>
              <a:off x="267904" y="-25298"/>
              <a:ext cx="4269658" cy="5160645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7" name="Google Shape;567;g3d83b8ed623_0_15"/>
            <p:cNvSpPr/>
            <p:nvPr/>
          </p:nvSpPr>
          <p:spPr>
            <a:xfrm>
              <a:off x="-58652" y="-27977"/>
              <a:ext cx="4269658" cy="5177790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68" name="Google Shape;568;g3d83b8ed623_0_15"/>
          <p:cNvSpPr txBox="1"/>
          <p:nvPr/>
        </p:nvSpPr>
        <p:spPr>
          <a:xfrm>
            <a:off x="990600" y="2175974"/>
            <a:ext cx="1152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US" sz="51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d83b8ed623_0_15"/>
          <p:cNvSpPr txBox="1"/>
          <p:nvPr/>
        </p:nvSpPr>
        <p:spPr>
          <a:xfrm>
            <a:off x="3581400" y="2114550"/>
            <a:ext cx="4724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參考資料</a:t>
            </a:r>
            <a:endParaRPr sz="32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5"/>
          <p:cNvSpPr txBox="1">
            <a:spLocks noGrp="1"/>
          </p:cNvSpPr>
          <p:nvPr>
            <p:ph type="title"/>
          </p:nvPr>
        </p:nvSpPr>
        <p:spPr>
          <a:xfrm>
            <a:off x="1389666" y="133350"/>
            <a:ext cx="6364668" cy="83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Microsoft JhengHei"/>
              <a:buNone/>
            </a:pPr>
            <a:r>
              <a:rPr lang="en-US" sz="25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參考資料</a:t>
            </a:r>
            <a:endParaRPr sz="25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76" name="Google Shape;57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112" y="2172372"/>
            <a:ext cx="3553321" cy="108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5" title="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925" y="1581831"/>
            <a:ext cx="2749825" cy="533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5" title="68584c8d-1fc5-4296-bfc4-2b2e7ee1af86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3751" y="2728800"/>
            <a:ext cx="2026926" cy="202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45" title="x5kbnkqbonphqbzsbm7p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98450" y="2042925"/>
            <a:ext cx="1601250" cy="16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g3b22b6f32d6_1_2" title="螢幕擷取畫面 2025-12-20 21555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0300" y="784700"/>
            <a:ext cx="2402851" cy="181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b22b6f32d6_1_2"/>
          <p:cNvSpPr txBox="1">
            <a:spLocks noGrp="1"/>
          </p:cNvSpPr>
          <p:nvPr>
            <p:ph type="title"/>
          </p:nvPr>
        </p:nvSpPr>
        <p:spPr>
          <a:xfrm>
            <a:off x="1389666" y="133350"/>
            <a:ext cx="63648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Microsoft JhengHei"/>
              <a:buNone/>
            </a:pPr>
            <a:r>
              <a:rPr lang="en-US" sz="25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參考資料</a:t>
            </a:r>
            <a:endParaRPr sz="2500" b="1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87" name="Google Shape;587;g3b22b6f32d6_1_2" title="螢幕擷取畫面 2025-12-20 22011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7675" y="815250"/>
            <a:ext cx="2663849" cy="175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g3b22b6f32d6_1_2" title="螢幕擷取畫面 2025-12-20 220154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638" y="2838275"/>
            <a:ext cx="2780176" cy="201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g3b22b6f32d6_1_2" title="螢幕擷取畫面 2025-12-20 22030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57675" y="2941825"/>
            <a:ext cx="2903251" cy="191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6"/>
          <p:cNvSpPr txBox="1"/>
          <p:nvPr/>
        </p:nvSpPr>
        <p:spPr>
          <a:xfrm>
            <a:off x="4114800" y="2214847"/>
            <a:ext cx="485902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THANKS FOR LISTENING!</a:t>
            </a:r>
            <a:endParaRPr sz="2800" b="1" i="0" u="none" strike="noStrike" cap="none">
              <a:solidFill>
                <a:schemeClr val="accen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596" name="Google Shape;596;p46"/>
          <p:cNvGrpSpPr/>
          <p:nvPr/>
        </p:nvGrpSpPr>
        <p:grpSpPr>
          <a:xfrm>
            <a:off x="-58652" y="-27977"/>
            <a:ext cx="4094531" cy="5171477"/>
            <a:chOff x="-58652" y="-27977"/>
            <a:chExt cx="4596214" cy="5171477"/>
          </a:xfrm>
        </p:grpSpPr>
        <p:sp>
          <p:nvSpPr>
            <p:cNvPr id="597" name="Google Shape;597;p46"/>
            <p:cNvSpPr/>
            <p:nvPr/>
          </p:nvSpPr>
          <p:spPr>
            <a:xfrm>
              <a:off x="267904" y="-25298"/>
              <a:ext cx="4269658" cy="516879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8" name="Google Shape;598;p46"/>
            <p:cNvSpPr/>
            <p:nvPr/>
          </p:nvSpPr>
          <p:spPr>
            <a:xfrm>
              <a:off x="-58652" y="-27977"/>
              <a:ext cx="4269658" cy="5171477"/>
            </a:xfrm>
            <a:custGeom>
              <a:avLst/>
              <a:gdLst/>
              <a:ahLst/>
              <a:cxnLst/>
              <a:rect l="l" t="t" r="r" b="b"/>
              <a:pathLst>
                <a:path w="5692877" h="6858000" extrusionOk="0">
                  <a:moveTo>
                    <a:pt x="0" y="0"/>
                  </a:moveTo>
                  <a:lnTo>
                    <a:pt x="5079980" y="0"/>
                  </a:lnTo>
                  <a:cubicBezTo>
                    <a:pt x="6560158" y="721167"/>
                    <a:pt x="4579961" y="1908501"/>
                    <a:pt x="5647764" y="3024115"/>
                  </a:cubicBezTo>
                  <a:cubicBezTo>
                    <a:pt x="6119906" y="4104853"/>
                    <a:pt x="2701365" y="5580038"/>
                    <a:pt x="3980330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BC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99" name="Google Shape;599;p46"/>
          <p:cNvPicPr preferRelativeResize="0"/>
          <p:nvPr/>
        </p:nvPicPr>
        <p:blipFill rotWithShape="1">
          <a:blip r:embed="rId3">
            <a:alphaModFix/>
          </a:blip>
          <a:srcRect r="11712"/>
          <a:stretch/>
        </p:blipFill>
        <p:spPr>
          <a:xfrm flipH="1">
            <a:off x="5257800" y="2856986"/>
            <a:ext cx="3113814" cy="192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-691383" y="977133"/>
            <a:ext cx="3924215" cy="299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5">
      <a:dk1>
        <a:srgbClr val="000000"/>
      </a:dk1>
      <a:lt1>
        <a:srgbClr val="FFFFFF"/>
      </a:lt1>
      <a:dk2>
        <a:srgbClr val="3E3D2D"/>
      </a:dk2>
      <a:lt2>
        <a:srgbClr val="FFFFFF"/>
      </a:lt2>
      <a:accent1>
        <a:srgbClr val="394B51"/>
      </a:accent1>
      <a:accent2>
        <a:srgbClr val="7FA99B"/>
      </a:accent2>
      <a:accent3>
        <a:srgbClr val="394B51"/>
      </a:accent3>
      <a:accent4>
        <a:srgbClr val="7FA99B"/>
      </a:accent4>
      <a:accent5>
        <a:srgbClr val="394B51"/>
      </a:accent5>
      <a:accent6>
        <a:srgbClr val="7FA99B"/>
      </a:accent6>
      <a:hlink>
        <a:srgbClr val="394B51"/>
      </a:hlink>
      <a:folHlink>
        <a:srgbClr val="7FA9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370</Words>
  <Application>Microsoft Office PowerPoint</Application>
  <PresentationFormat>如螢幕大小 (16:9)</PresentationFormat>
  <Paragraphs>191</Paragraphs>
  <Slides>51</Slides>
  <Notes>51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57" baseType="lpstr">
      <vt:lpstr>Montserrat</vt:lpstr>
      <vt:lpstr>Arial</vt:lpstr>
      <vt:lpstr>Microsoft JhengHei</vt:lpstr>
      <vt:lpstr>Calibri</vt:lpstr>
      <vt:lpstr>Microsoft JhengHei</vt:lpstr>
      <vt:lpstr>Office 主题</vt:lpstr>
      <vt:lpstr>PowerPoint 簡報</vt:lpstr>
      <vt:lpstr>PowerPoint 簡報</vt:lpstr>
      <vt:lpstr>PowerPoint 簡報</vt:lpstr>
      <vt:lpstr>專題起源</vt:lpstr>
      <vt:lpstr>PowerPoint 簡報</vt:lpstr>
      <vt:lpstr>網站地圖 使用者地圖</vt:lpstr>
      <vt:lpstr>網站地圖 後台管理員地圖</vt:lpstr>
      <vt:lpstr>PowerPoint 簡報</vt:lpstr>
      <vt:lpstr>PowerPoint 簡報</vt:lpstr>
      <vt:lpstr>PowerPoint 簡報</vt:lpstr>
      <vt:lpstr>ER MODEL</vt:lpstr>
      <vt:lpstr>PowerPoint 簡報</vt:lpstr>
      <vt:lpstr>商品功能流程圖</vt:lpstr>
      <vt:lpstr>首頁</vt:lpstr>
      <vt:lpstr>商品詳情頁</vt:lpstr>
      <vt:lpstr>商品功能 ER MODEL</vt:lpstr>
      <vt:lpstr>PowerPoint 簡報</vt:lpstr>
      <vt:lpstr>會員註冊/登入功能流程圖</vt:lpstr>
      <vt:lpstr>會員註冊</vt:lpstr>
      <vt:lpstr>會員註冊輸入驗證</vt:lpstr>
      <vt:lpstr>會員登入</vt:lpstr>
      <vt:lpstr>會員登入驗證</vt:lpstr>
      <vt:lpstr>會員忘記密碼</vt:lpstr>
      <vt:lpstr>會員查看資訊</vt:lpstr>
      <vt:lpstr>會員更改密碼</vt:lpstr>
      <vt:lpstr>會員停用</vt:lpstr>
      <vt:lpstr>會員查看訂單</vt:lpstr>
      <vt:lpstr>會員功能ER MODEL</vt:lpstr>
      <vt:lpstr>後台管理員登入功能流程圖</vt:lpstr>
      <vt:lpstr>後台管理員登入</vt:lpstr>
      <vt:lpstr>後台管理員 查看會員列表</vt:lpstr>
      <vt:lpstr>後台管理員 會員關鍵字查詢</vt:lpstr>
      <vt:lpstr>後台管理員 更改會員狀態</vt:lpstr>
      <vt:lpstr>後台管理員功能 ER MODEL</vt:lpstr>
      <vt:lpstr>PowerPoint 簡報</vt:lpstr>
      <vt:lpstr>購物車功能流程圖</vt:lpstr>
      <vt:lpstr>加入購物車</vt:lpstr>
      <vt:lpstr>購物車(查看、增刪商品數量)</vt:lpstr>
      <vt:lpstr>購物車功能 ER MODEL</vt:lpstr>
      <vt:lpstr>PowerPoint 簡報</vt:lpstr>
      <vt:lpstr>結帳功能-流程圖</vt:lpstr>
      <vt:lpstr>結帳畫面</vt:lpstr>
      <vt:lpstr>結帳付款</vt:lpstr>
      <vt:lpstr>結帳付款功能- ER MODEL</vt:lpstr>
      <vt:lpstr>結帳付款功能- ER MODEL</vt:lpstr>
      <vt:lpstr>PowerPoint 簡報</vt:lpstr>
      <vt:lpstr>未來展望</vt:lpstr>
      <vt:lpstr>PowerPoint 簡報</vt:lpstr>
      <vt:lpstr>參考資料</vt:lpstr>
      <vt:lpstr>參考資料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Sam LIU</cp:lastModifiedBy>
  <cp:revision>20</cp:revision>
  <dcterms:created xsi:type="dcterms:W3CDTF">2019-03-15T03:03:38Z</dcterms:created>
  <dcterms:modified xsi:type="dcterms:W3CDTF">2026-04-22T14:44:16Z</dcterms:modified>
</cp:coreProperties>
</file>