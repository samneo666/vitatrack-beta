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</p:sldIdLst>
  <p:sldSz cy="5143500" cx="9144000"/>
  <p:notesSz cx="6858000" cy="9144000"/>
  <p:embeddedFontLst>
    <p:embeddedFont>
      <p:font typeface="Montserrat"/>
      <p:regular r:id="rId57"/>
      <p:bold r:id="rId58"/>
      <p:italic r:id="rId59"/>
      <p:boldItalic r:id="rId6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61" roundtripDataSignature="AMtx7mgFE5T2prsqpNC7K6mzXuRO0t9xp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1" Type="http://customschemas.google.com/relationships/presentationmetadata" Target="meta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60" Type="http://schemas.openxmlformats.org/officeDocument/2006/relationships/font" Target="fonts/Montserrat-boldItalic.fntdata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font" Target="fonts/Montserrat-regular.fntdata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font" Target="fonts/Montserrat-italic.fntdata"/><Relationship Id="rId14" Type="http://schemas.openxmlformats.org/officeDocument/2006/relationships/slide" Target="slides/slide9.xml"/><Relationship Id="rId58" Type="http://schemas.openxmlformats.org/officeDocument/2006/relationships/font" Target="fonts/Montserrat-bold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3" name="Google Shape;73;p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5" name="Google Shape;145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5" name="Google Shape;155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2" name="Google Shape;182;p2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" name="Google Shape;19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2" name="Google Shape;192;p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9" name="Google Shape;199;p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7" name="Google Shape;207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4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" name="Google Shape;216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7" name="Google Shape;217;p4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b22b6f32d6_1_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3" name="Google Shape;243;g3b22b6f32d6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4" name="Google Shape;244;g3b22b6f32d6_1_2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3" name="Google Shape;253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4" name="Google Shape;254;p4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3" name="Google Shape;26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4" name="Google Shape;264;p9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3" name="Google Shape;27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4" name="Google Shape;274;p1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aad698f54b_3_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g3aad698f54b_3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4" name="Google Shape;284;g3aad698f54b_3_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b1340780fc_2_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0" name="Google Shape;290;g3b1340780fc_2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1" name="Google Shape;291;g3b1340780fc_2_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9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7" name="Google Shape;297;p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8" name="Google Shape;298;p9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0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4" name="Google Shape;304;p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5" name="Google Shape;305;p10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4" name="Google Shape;31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5" name="Google Shape;315;p1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0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p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5" name="Google Shape;325;p10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b13c246361_1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1" name="Google Shape;331;g3b13c24636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2" name="Google Shape;332;g3b13c246361_1_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0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8" name="Google Shape;338;p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9" name="Google Shape;339;p10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b13c246361_1_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5" name="Google Shape;345;g3b13c246361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6" name="Google Shape;346;g3b13c246361_1_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b13c246361_1_4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2" name="Google Shape;352;g3b13c24636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3" name="Google Shape;353;g3b13c246361_1_4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0" name="Google Shape;36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61" name="Google Shape;361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7" name="Google Shape;36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68" name="Google Shape;368;p1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4" name="Google Shape;374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75" name="Google Shape;375;p1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1" name="Google Shape;381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82" name="Google Shape;382;p1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89" name="Google Shape;389;p10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b22b6f32d6_1_4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3b22b6f32d6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7" name="Google Shape;397;g3b22b6f32d6_1_4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b13c246361_1_3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6" name="Google Shape;406;g3b13c246361_1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07" name="Google Shape;407;g3b13c246361_1_3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3" name="Google Shape;413;p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14" name="Google Shape;414;p10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1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0" name="Google Shape;420;p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1" name="Google Shape;421;p10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7" name="Google Shape;427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28" name="Google Shape;428;p19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3b13c246361_1_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7" name="Google Shape;437;g3b13c246361_1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38" name="Google Shape;438;g3b13c246361_1_5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10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4" name="Google Shape;444;p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45" name="Google Shape;445;p10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4" name="Google Shape;45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55" name="Google Shape;455;p1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3b14228b5f8_1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4" name="Google Shape;464;g3b14228b5f8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65" name="Google Shape;465;g3b14228b5f8_1_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1" name="Google Shape;471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72" name="Google Shape;472;p2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1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3" name="Google Shape;483;p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84" name="Google Shape;484;p109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1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0" name="Google Shape;490;p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91" name="Google Shape;491;p11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0" name="Google Shape;50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01" name="Google Shape;501;p1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3b060e457b9_0_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0" name="Google Shape;510;g3b060e457b9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11" name="Google Shape;511;g3b060e457b9_0_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3b1d23ac307_0_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0" name="Google Shape;520;g3b1d23ac30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21" name="Google Shape;521;g3b1d23ac307_0_1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1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0" name="Google Shape;530;p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31" name="Google Shape;531;p11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3b1d23ac307_0_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7" name="Google Shape;537;g3b1d23ac30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38" name="Google Shape;538;g3b1d23ac307_0_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4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4" name="Google Shape;544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45" name="Google Shape;545;p4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d83b8ed623_0_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4" name="Google Shape;554;g3d83b8ed623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55" name="Google Shape;555;g3d83b8ed623_0_9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g3d83b8ed623_0_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2" name="Google Shape;562;g3d83b8ed623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63" name="Google Shape;563;g3d83b8ed623_0_1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4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2" name="Google Shape;572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73" name="Google Shape;573;p4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3b22b6f32d6_1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2" name="Google Shape;582;g3b22b6f32d6_1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83" name="Google Shape;583;g3b22b6f32d6_1_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4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2" name="Google Shape;592;p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93" name="Google Shape;593;p4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自定义版式">
  <p:cSld name="1_自定义版式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内容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9"/>
          <p:cNvSpPr txBox="1"/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49"/>
          <p:cNvSpPr txBox="1"/>
          <p:nvPr>
            <p:ph idx="1" type="body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49"/>
          <p:cNvSpPr txBox="1"/>
          <p:nvPr>
            <p:ph idx="10" type="dt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9"/>
          <p:cNvSpPr txBox="1"/>
          <p:nvPr>
            <p:ph idx="11" type="ftr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9"/>
          <p:cNvSpPr txBox="1"/>
          <p:nvPr>
            <p:ph idx="12" type="sldNum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advTm="3000" spd="slow" p14:dur="1500">
    <p:random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幻灯片">
  <p:cSld name="标题幻灯片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自定义版式">
  <p:cSld name="自定义版式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节标题">
  <p:cSld name="节标题">
    <p:bg>
      <p:bgPr>
        <a:solidFill>
          <a:schemeClr val="lt1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2"/>
          <p:cNvSpPr txBox="1"/>
          <p:nvPr/>
        </p:nvSpPr>
        <p:spPr>
          <a:xfrm>
            <a:off x="313929" y="361950"/>
            <a:ext cx="191110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Work overview</a:t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ransition advTm="3000" spd="slow" p14:dur="1500">
    <p:random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节标题">
  <p:cSld name="1_节标题">
    <p:bg>
      <p:bgPr>
        <a:solidFill>
          <a:schemeClr val="l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3"/>
          <p:cNvSpPr txBox="1"/>
          <p:nvPr/>
        </p:nvSpPr>
        <p:spPr>
          <a:xfrm>
            <a:off x="313929" y="361950"/>
            <a:ext cx="188865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Work progress</a:t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ransition advTm="3000" spd="slow" p14:dur="1500">
    <p:random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节标题">
  <p:cSld name="2_节标题">
    <p:bg>
      <p:bgPr>
        <a:solidFill>
          <a:schemeClr val="lt1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4"/>
          <p:cNvSpPr txBox="1"/>
          <p:nvPr/>
        </p:nvSpPr>
        <p:spPr>
          <a:xfrm>
            <a:off x="313929" y="361950"/>
            <a:ext cx="199125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Work summary</a:t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ransition advTm="3000" spd="slow" p14:dur="1500">
    <p:random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节标题">
  <p:cSld name="3_节标题">
    <p:bg>
      <p:bgPr>
        <a:solidFill>
          <a:schemeClr val="lt1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5"/>
          <p:cNvSpPr txBox="1"/>
          <p:nvPr/>
        </p:nvSpPr>
        <p:spPr>
          <a:xfrm>
            <a:off x="313929" y="361950"/>
            <a:ext cx="139814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Deficiency</a:t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ransition advTm="3000" spd="slow" p14:dur="1500">
    <p:random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节标题">
  <p:cSld name="4_节标题">
    <p:bg>
      <p:bgPr>
        <a:solidFill>
          <a:schemeClr val="lt1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6"/>
          <p:cNvSpPr txBox="1"/>
          <p:nvPr/>
        </p:nvSpPr>
        <p:spPr>
          <a:xfrm>
            <a:off x="313929" y="361950"/>
            <a:ext cx="1390124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Work plan</a:t>
            </a:r>
            <a:endParaRPr b="0" i="0" sz="1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ransition advTm="3000" spd="slow" p14:dur="1500">
    <p:random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标题和内容">
  <p:cSld name="1_标题和内容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标题和内容">
  <p:cSld name="2_标题和内容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标题和内容">
  <p:cSld name="3_标题和内容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标题和内容">
  <p:cSld name="4_标题和内容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标题和内容">
  <p:cSld name="5_标题和内容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标题和内容">
  <p:cSld name="6_标题和内容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标题和内容">
  <p:cSld name="7_标题和内容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标题和内容">
  <p:cSld name="8_标题和内容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标题和内容">
  <p:cSld name="9_标题和内容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标题和内容">
  <p:cSld name="10_标题和内容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标题和内容">
  <p:cSld name="11_标题和内容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标题和内容">
  <p:cSld name="12_标题和内容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标题和内容">
  <p:cSld name="13_标题和内容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标题和内容">
  <p:cSld name="14_标题和内容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标题和内容">
  <p:cSld name="15_标题和内容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标题和内容">
  <p:cSld name="16_标题和内容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标题和内容">
  <p:cSld name="17_标题和内容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标题和内容">
  <p:cSld name="18_标题和内容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标题和内容">
  <p:cSld name="19_标题和内容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标题和内容">
  <p:cSld name="20_标题和内容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1_标题和内容">
  <p:cSld name="21_标题和内容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2_标题和内容">
  <p:cSld name="22_标题和内容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3_标题和内容">
  <p:cSld name="23_标题和内容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4_标题和内容">
  <p:cSld name="24_标题和内容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5_标题和内容">
  <p:cSld name="25_标题和内容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6_标题和内容">
  <p:cSld name="26_标题和内容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7_标题和内容">
  <p:cSld name="27_标题和内容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8_标题和内容">
  <p:cSld name="28_标题和内容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9_标题和内容">
  <p:cSld name="29_标题和内容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0_标题和内容">
  <p:cSld name="30_标题和内容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1_标题和内容">
  <p:cSld name="31_标题和内容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2_标题和内容">
  <p:cSld name="32_标题和内容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3_标题和内容">
  <p:cSld name="33_标题和内容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4_标题和内容">
  <p:cSld name="34_标题和内容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5_标题和内容">
  <p:cSld name="35_标题和内容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标题幻灯片" type="title">
  <p:cSld name="TITLE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advTm="3000" spd="slow" p14:dur="1500">
    <p:random/>
  </p:transition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20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22.xml"/><Relationship Id="rId44" Type="http://schemas.openxmlformats.org/officeDocument/2006/relationships/slideLayout" Target="../slideLayouts/slideLayout44.xml"/><Relationship Id="rId21" Type="http://schemas.openxmlformats.org/officeDocument/2006/relationships/slideLayout" Target="../slideLayouts/slideLayout21.xml"/><Relationship Id="rId43" Type="http://schemas.openxmlformats.org/officeDocument/2006/relationships/slideLayout" Target="../slideLayouts/slideLayout43.xml"/><Relationship Id="rId24" Type="http://schemas.openxmlformats.org/officeDocument/2006/relationships/slideLayout" Target="../slideLayouts/slideLayout24.xml"/><Relationship Id="rId46" Type="http://schemas.openxmlformats.org/officeDocument/2006/relationships/theme" Target="../theme/theme1.xml"/><Relationship Id="rId23" Type="http://schemas.openxmlformats.org/officeDocument/2006/relationships/slideLayout" Target="../slideLayouts/slideLayout23.xml"/><Relationship Id="rId45" Type="http://schemas.openxmlformats.org/officeDocument/2006/relationships/slideLayout" Target="../slideLayouts/slideLayout45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7"/>
          <p:cNvSpPr txBox="1"/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b="0" i="0" sz="4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7"/>
          <p:cNvSpPr txBox="1"/>
          <p:nvPr>
            <p:ph idx="1" type="body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47"/>
          <p:cNvSpPr txBox="1"/>
          <p:nvPr>
            <p:ph idx="10" type="dt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47"/>
          <p:cNvSpPr txBox="1"/>
          <p:nvPr>
            <p:ph idx="11" type="ftr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47"/>
          <p:cNvSpPr txBox="1"/>
          <p:nvPr>
            <p:ph idx="12" type="sldNum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</p:sldLayoutIdLst>
  <p:transition advTm="3000" spd="slow" p14:dur="1500">
    <p:random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9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6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2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0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3.png"/><Relationship Id="rId4" Type="http://schemas.openxmlformats.org/officeDocument/2006/relationships/image" Target="../media/image27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5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7.jp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2.png"/><Relationship Id="rId4" Type="http://schemas.openxmlformats.org/officeDocument/2006/relationships/image" Target="../media/image4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1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9.jp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24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8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3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2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35.png"/><Relationship Id="rId4" Type="http://schemas.openxmlformats.org/officeDocument/2006/relationships/image" Target="../media/image34.png"/><Relationship Id="rId5" Type="http://schemas.openxmlformats.org/officeDocument/2006/relationships/image" Target="../media/image39.jpg"/><Relationship Id="rId6" Type="http://schemas.openxmlformats.org/officeDocument/2006/relationships/image" Target="../media/image38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44.png"/><Relationship Id="rId4" Type="http://schemas.openxmlformats.org/officeDocument/2006/relationships/image" Target="../media/image46.png"/><Relationship Id="rId5" Type="http://schemas.openxmlformats.org/officeDocument/2006/relationships/image" Target="../media/image43.png"/><Relationship Id="rId6" Type="http://schemas.openxmlformats.org/officeDocument/2006/relationships/image" Target="../media/image47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4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"/>
          <p:cNvSpPr txBox="1"/>
          <p:nvPr/>
        </p:nvSpPr>
        <p:spPr>
          <a:xfrm>
            <a:off x="4190999" y="944881"/>
            <a:ext cx="367119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i="0" lang="en-US" sz="5000" u="none" cap="none" strike="noStrike">
                <a:solidFill>
                  <a:srgbClr val="7B99A2"/>
                </a:solidFill>
                <a:latin typeface="Montserrat"/>
                <a:ea typeface="Montserrat"/>
                <a:cs typeface="Montserrat"/>
                <a:sym typeface="Montserrat"/>
              </a:rPr>
              <a:t>VitaTrack</a:t>
            </a:r>
            <a:endParaRPr b="1" i="0" sz="5000" u="none" cap="none" strike="noStrike">
              <a:solidFill>
                <a:srgbClr val="7B99A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   </a:t>
            </a:r>
            <a:r>
              <a:rPr b="1" i="0" lang="en-US" sz="1400" u="none" cap="none" strike="noStrike">
                <a:solidFill>
                  <a:schemeClr val="accent5"/>
                </a:solidFill>
                <a:latin typeface="Montserrat"/>
                <a:ea typeface="Montserrat"/>
                <a:cs typeface="Montserrat"/>
                <a:sym typeface="Montserrat"/>
              </a:rPr>
              <a:t>Wellness Within Reach</a:t>
            </a:r>
            <a:endParaRPr b="1" i="0" sz="1400" u="none" cap="none" strike="noStrike">
              <a:solidFill>
                <a:schemeClr val="accent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76" name="Google Shape;76;p1"/>
          <p:cNvGrpSpPr/>
          <p:nvPr/>
        </p:nvGrpSpPr>
        <p:grpSpPr>
          <a:xfrm>
            <a:off x="-58652" y="-27977"/>
            <a:ext cx="4094531" cy="5171477"/>
            <a:chOff x="-58652" y="-27977"/>
            <a:chExt cx="4596214" cy="5171477"/>
          </a:xfrm>
        </p:grpSpPr>
        <p:sp>
          <p:nvSpPr>
            <p:cNvPr id="77" name="Google Shape;77;p1"/>
            <p:cNvSpPr/>
            <p:nvPr/>
          </p:nvSpPr>
          <p:spPr>
            <a:xfrm>
              <a:off x="267904" y="-25298"/>
              <a:ext cx="4269658" cy="516879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78" name="Google Shape;78;p1"/>
            <p:cNvSpPr/>
            <p:nvPr/>
          </p:nvSpPr>
          <p:spPr>
            <a:xfrm>
              <a:off x="-58652" y="-27977"/>
              <a:ext cx="4269658" cy="517147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B99A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79" name="Google Shape;79;p1"/>
          <p:cNvSpPr txBox="1"/>
          <p:nvPr/>
        </p:nvSpPr>
        <p:spPr>
          <a:xfrm>
            <a:off x="3631649" y="2571750"/>
            <a:ext cx="1880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br>
              <a:rPr b="0" i="0" lang="en-US" sz="1600" u="none" cap="none" strike="noStrike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b="0" i="0" lang="en-US" sz="1600" u="none" cap="none" strike="noStrike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健康食品電商網站</a:t>
            </a:r>
            <a:r>
              <a:rPr b="0" i="0" lang="en-US" sz="1600" u="none" cap="none" strike="noStrike">
                <a:solidFill>
                  <a:schemeClr val="accen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b="0" i="0" sz="1600" u="none" cap="none" strike="noStrike">
              <a:solidFill>
                <a:schemeClr val="accen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80" name="Google Shape;80;p1"/>
          <p:cNvPicPr preferRelativeResize="0"/>
          <p:nvPr/>
        </p:nvPicPr>
        <p:blipFill rotWithShape="1">
          <a:blip r:embed="rId3">
            <a:alphaModFix/>
          </a:blip>
          <a:srcRect b="0" l="0" r="11712" t="0"/>
          <a:stretch/>
        </p:blipFill>
        <p:spPr>
          <a:xfrm flipH="1">
            <a:off x="5257800" y="2856986"/>
            <a:ext cx="3113814" cy="1924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71650" y="2856975"/>
            <a:ext cx="2669974" cy="198595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"/>
          <p:cNvSpPr txBox="1"/>
          <p:nvPr/>
        </p:nvSpPr>
        <p:spPr>
          <a:xfrm>
            <a:off x="3015150" y="3455250"/>
            <a:ext cx="3113700" cy="132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accent3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組員:</a:t>
            </a:r>
            <a:endParaRPr b="0" i="0" sz="1400" u="none" cap="none" strike="noStrike">
              <a:solidFill>
                <a:schemeClr val="accent3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accent3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劉森豪</a:t>
            </a:r>
            <a:r>
              <a:rPr lang="en-US">
                <a:solidFill>
                  <a:schemeClr val="accent3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、簡懷恩、宋柏</a:t>
            </a:r>
            <a:r>
              <a:rPr lang="en-US">
                <a:solidFill>
                  <a:schemeClr val="accent3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毅</a:t>
            </a:r>
            <a:endParaRPr>
              <a:solidFill>
                <a:schemeClr val="accent3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accent3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accent3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指導老師: 陳怡榕老師、 李偉銘老師、劉耀升老師、張互賓老師</a:t>
            </a:r>
            <a:endParaRPr b="0" i="0" sz="1400" u="none" cap="none" strike="noStrike">
              <a:solidFill>
                <a:schemeClr val="accent3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3"/>
          <p:cNvGrpSpPr/>
          <p:nvPr/>
        </p:nvGrpSpPr>
        <p:grpSpPr>
          <a:xfrm>
            <a:off x="-10113" y="-24224"/>
            <a:ext cx="4094307" cy="5171477"/>
            <a:chOff x="-58652" y="-27977"/>
            <a:chExt cx="4596214" cy="5171477"/>
          </a:xfrm>
        </p:grpSpPr>
        <p:sp>
          <p:nvSpPr>
            <p:cNvPr id="89" name="Google Shape;89;p3"/>
            <p:cNvSpPr/>
            <p:nvPr/>
          </p:nvSpPr>
          <p:spPr>
            <a:xfrm>
              <a:off x="267904" y="-25298"/>
              <a:ext cx="4269658" cy="516879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90" name="Google Shape;90;p3"/>
            <p:cNvSpPr/>
            <p:nvPr/>
          </p:nvSpPr>
          <p:spPr>
            <a:xfrm>
              <a:off x="-58652" y="-27977"/>
              <a:ext cx="4269658" cy="517147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91" name="Google Shape;91;p3"/>
          <p:cNvSpPr txBox="1"/>
          <p:nvPr/>
        </p:nvSpPr>
        <p:spPr>
          <a:xfrm>
            <a:off x="210118" y="2184078"/>
            <a:ext cx="3615900" cy="62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A5A5A5"/>
                </a:solidFill>
                <a:latin typeface="Montserrat"/>
                <a:ea typeface="Montserrat"/>
                <a:cs typeface="Montserrat"/>
                <a:sym typeface="Montserrat"/>
              </a:rPr>
              <a:t>CONTENT</a:t>
            </a:r>
            <a:endParaRPr b="0" i="0" sz="4800" u="none" cap="none" strike="noStrike">
              <a:solidFill>
                <a:srgbClr val="A5A5A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2" name="Google Shape;92;p3"/>
          <p:cNvGrpSpPr/>
          <p:nvPr/>
        </p:nvGrpSpPr>
        <p:grpSpPr>
          <a:xfrm>
            <a:off x="4773609" y="4019187"/>
            <a:ext cx="5153050" cy="385318"/>
            <a:chOff x="3527609" y="1954206"/>
            <a:chExt cx="3101818" cy="385318"/>
          </a:xfrm>
        </p:grpSpPr>
        <p:sp>
          <p:nvSpPr>
            <p:cNvPr id="93" name="Google Shape;93;p3"/>
            <p:cNvSpPr/>
            <p:nvPr/>
          </p:nvSpPr>
          <p:spPr>
            <a:xfrm>
              <a:off x="3995937" y="1954206"/>
              <a:ext cx="1916117" cy="385318"/>
            </a:xfrm>
            <a:prstGeom prst="roundRect">
              <a:avLst>
                <a:gd fmla="val 0" name="adj"/>
              </a:avLst>
            </a:prstGeom>
            <a:noFill/>
            <a:ln cap="flat" cmpd="sng" w="12700">
              <a:solidFill>
                <a:schemeClr val="accent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b="1" i="0" sz="1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94" name="Google Shape;94;p3"/>
            <p:cNvSpPr/>
            <p:nvPr/>
          </p:nvSpPr>
          <p:spPr>
            <a:xfrm>
              <a:off x="4127727" y="1980396"/>
              <a:ext cx="2501700" cy="33858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0975" lIns="121950" spcFirstLastPara="1" rIns="121950" wrap="square" tIns="609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1" i="0" lang="en-US" sz="1300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lang="en-US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未來展望</a:t>
              </a:r>
              <a:endParaRPr b="0" i="0" sz="10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95" name="Google Shape;95;p3"/>
            <p:cNvSpPr/>
            <p:nvPr/>
          </p:nvSpPr>
          <p:spPr>
            <a:xfrm>
              <a:off x="3542139" y="1954206"/>
              <a:ext cx="385318" cy="385318"/>
            </a:xfrm>
            <a:prstGeom prst="roundRect">
              <a:avLst>
                <a:gd fmla="val 16667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b="1" i="0" sz="1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96" name="Google Shape;96;p3"/>
            <p:cNvSpPr txBox="1"/>
            <p:nvPr/>
          </p:nvSpPr>
          <p:spPr>
            <a:xfrm>
              <a:off x="3527609" y="1954206"/>
              <a:ext cx="501137" cy="3385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09</a:t>
              </a:r>
              <a:endParaRPr b="1" i="0" sz="1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97" name="Google Shape;97;p3"/>
          <p:cNvGrpSpPr/>
          <p:nvPr/>
        </p:nvGrpSpPr>
        <p:grpSpPr>
          <a:xfrm>
            <a:off x="4705916" y="771672"/>
            <a:ext cx="4420555" cy="861805"/>
            <a:chOff x="3491558" y="1954206"/>
            <a:chExt cx="2660901" cy="861805"/>
          </a:xfrm>
        </p:grpSpPr>
        <p:sp>
          <p:nvSpPr>
            <p:cNvPr id="98" name="Google Shape;98;p3"/>
            <p:cNvSpPr/>
            <p:nvPr/>
          </p:nvSpPr>
          <p:spPr>
            <a:xfrm>
              <a:off x="3995937" y="1954206"/>
              <a:ext cx="1916117" cy="385318"/>
            </a:xfrm>
            <a:prstGeom prst="roundRect">
              <a:avLst>
                <a:gd fmla="val 0" name="adj"/>
              </a:avLst>
            </a:prstGeom>
            <a:noFill/>
            <a:ln cap="flat" cmpd="sng" w="12700">
              <a:solidFill>
                <a:schemeClr val="accent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b="1" i="0" sz="1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99" name="Google Shape;99;p3"/>
            <p:cNvSpPr/>
            <p:nvPr/>
          </p:nvSpPr>
          <p:spPr>
            <a:xfrm>
              <a:off x="4163689" y="1954206"/>
              <a:ext cx="1988770" cy="86180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0975" lIns="121950" spcFirstLastPara="1" rIns="121950" wrap="square" tIns="609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網站地圖 </a:t>
              </a:r>
              <a:endPara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t/>
              </a:r>
              <a:endParaRPr b="1" i="0" sz="16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1" i="0" sz="16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00" name="Google Shape;100;p3"/>
            <p:cNvSpPr/>
            <p:nvPr/>
          </p:nvSpPr>
          <p:spPr>
            <a:xfrm>
              <a:off x="3542139" y="1954206"/>
              <a:ext cx="385318" cy="385318"/>
            </a:xfrm>
            <a:prstGeom prst="roundRect">
              <a:avLst>
                <a:gd fmla="val 16667" name="adj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b="1" i="0" sz="1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01" name="Google Shape;101;p3"/>
            <p:cNvSpPr txBox="1"/>
            <p:nvPr/>
          </p:nvSpPr>
          <p:spPr>
            <a:xfrm>
              <a:off x="3491558" y="1954206"/>
              <a:ext cx="501137" cy="3385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02</a:t>
              </a:r>
              <a:endParaRPr b="1" i="0" sz="2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02" name="Google Shape;102;p3"/>
          <p:cNvGrpSpPr/>
          <p:nvPr/>
        </p:nvGrpSpPr>
        <p:grpSpPr>
          <a:xfrm>
            <a:off x="4767730" y="2129258"/>
            <a:ext cx="4333301" cy="477084"/>
            <a:chOff x="3527613" y="1913706"/>
            <a:chExt cx="2593704" cy="477084"/>
          </a:xfrm>
        </p:grpSpPr>
        <p:sp>
          <p:nvSpPr>
            <p:cNvPr id="103" name="Google Shape;103;p3"/>
            <p:cNvSpPr/>
            <p:nvPr/>
          </p:nvSpPr>
          <p:spPr>
            <a:xfrm>
              <a:off x="3995936" y="1954206"/>
              <a:ext cx="1916117" cy="385318"/>
            </a:xfrm>
            <a:prstGeom prst="roundRect">
              <a:avLst>
                <a:gd fmla="val 0" name="adj"/>
              </a:avLst>
            </a:prstGeom>
            <a:noFill/>
            <a:ln cap="flat" cmpd="sng" w="12700">
              <a:solidFill>
                <a:schemeClr val="accent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b="1" i="0" sz="1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04" name="Google Shape;104;p3"/>
            <p:cNvSpPr/>
            <p:nvPr/>
          </p:nvSpPr>
          <p:spPr>
            <a:xfrm>
              <a:off x="4132617" y="1913706"/>
              <a:ext cx="1988700" cy="47708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0975" lIns="121950" spcFirstLastPara="1" rIns="121950" wrap="square" tIns="609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1" i="0" lang="en-US" sz="1300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b="0" i="0" lang="en-US" sz="1300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商品功能流程</a:t>
              </a:r>
              <a:endParaRPr b="0" i="0" sz="13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(流程圖、ER MODEL</a:t>
              </a:r>
              <a:r>
                <a:rPr b="1" i="0" lang="en-US" sz="1000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)</a:t>
              </a:r>
              <a:endParaRPr b="1" i="0" sz="10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05" name="Google Shape;105;p3"/>
            <p:cNvSpPr/>
            <p:nvPr/>
          </p:nvSpPr>
          <p:spPr>
            <a:xfrm>
              <a:off x="3542139" y="1954206"/>
              <a:ext cx="385318" cy="385318"/>
            </a:xfrm>
            <a:prstGeom prst="roundRect">
              <a:avLst>
                <a:gd fmla="val 16667" name="adj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b="1" i="0" sz="1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06" name="Google Shape;106;p3"/>
            <p:cNvSpPr txBox="1"/>
            <p:nvPr/>
          </p:nvSpPr>
          <p:spPr>
            <a:xfrm>
              <a:off x="3527613" y="1954201"/>
              <a:ext cx="3591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05</a:t>
              </a:r>
              <a:endParaRPr b="1" i="0" sz="1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07" name="Google Shape;107;p3"/>
          <p:cNvGrpSpPr/>
          <p:nvPr/>
        </p:nvGrpSpPr>
        <p:grpSpPr>
          <a:xfrm>
            <a:off x="4782409" y="3044704"/>
            <a:ext cx="4826030" cy="428671"/>
            <a:chOff x="3527609" y="1910853"/>
            <a:chExt cx="2904972" cy="428671"/>
          </a:xfrm>
        </p:grpSpPr>
        <p:sp>
          <p:nvSpPr>
            <p:cNvPr id="108" name="Google Shape;108;p3"/>
            <p:cNvSpPr/>
            <p:nvPr/>
          </p:nvSpPr>
          <p:spPr>
            <a:xfrm>
              <a:off x="3995937" y="1954206"/>
              <a:ext cx="1920708" cy="385318"/>
            </a:xfrm>
            <a:prstGeom prst="roundRect">
              <a:avLst>
                <a:gd fmla="val 0" name="adj"/>
              </a:avLst>
            </a:prstGeom>
            <a:noFill/>
            <a:ln cap="flat" cmpd="sng" w="12700">
              <a:solidFill>
                <a:schemeClr val="accent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b="1" i="0" sz="1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09" name="Google Shape;109;p3"/>
            <p:cNvSpPr/>
            <p:nvPr/>
          </p:nvSpPr>
          <p:spPr>
            <a:xfrm>
              <a:off x="4082381" y="1910853"/>
              <a:ext cx="2350200" cy="32319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0975" lIns="121950" spcFirstLastPara="1" rIns="121950" wrap="square" tIns="609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1" i="0" lang="en-US" sz="1300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 </a:t>
              </a:r>
              <a:endParaRPr b="1" i="0" sz="13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10" name="Google Shape;110;p3"/>
            <p:cNvSpPr/>
            <p:nvPr/>
          </p:nvSpPr>
          <p:spPr>
            <a:xfrm>
              <a:off x="3542139" y="1954206"/>
              <a:ext cx="385318" cy="385318"/>
            </a:xfrm>
            <a:prstGeom prst="roundRect">
              <a:avLst>
                <a:gd fmla="val 16667" name="adj"/>
              </a:avLst>
            </a:prstGeom>
            <a:solidFill>
              <a:srgbClr val="A6BCC1"/>
            </a:solidFill>
            <a:ln cap="flat" cmpd="sng" w="9525">
              <a:solidFill>
                <a:srgbClr val="A6BCC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b="1" i="0" sz="1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11" name="Google Shape;111;p3"/>
            <p:cNvSpPr txBox="1"/>
            <p:nvPr/>
          </p:nvSpPr>
          <p:spPr>
            <a:xfrm>
              <a:off x="3527609" y="1954206"/>
              <a:ext cx="501137" cy="3385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07</a:t>
              </a:r>
              <a:endParaRPr b="1" i="0" sz="1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12" name="Google Shape;112;p3"/>
          <p:cNvGrpSpPr/>
          <p:nvPr/>
        </p:nvGrpSpPr>
        <p:grpSpPr>
          <a:xfrm>
            <a:off x="4707374" y="292853"/>
            <a:ext cx="4430499" cy="385318"/>
            <a:chOff x="3485498" y="1954206"/>
            <a:chExt cx="2666887" cy="385318"/>
          </a:xfrm>
        </p:grpSpPr>
        <p:sp>
          <p:nvSpPr>
            <p:cNvPr id="113" name="Google Shape;113;p3"/>
            <p:cNvSpPr/>
            <p:nvPr/>
          </p:nvSpPr>
          <p:spPr>
            <a:xfrm>
              <a:off x="3995937" y="1954206"/>
              <a:ext cx="1916117" cy="385318"/>
            </a:xfrm>
            <a:prstGeom prst="roundRect">
              <a:avLst>
                <a:gd fmla="val 0" name="adj"/>
              </a:avLst>
            </a:prstGeom>
            <a:noFill/>
            <a:ln cap="flat" cmpd="sng" w="12700">
              <a:solidFill>
                <a:schemeClr val="accent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b="1" i="0" sz="1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14" name="Google Shape;114;p3"/>
            <p:cNvSpPr/>
            <p:nvPr/>
          </p:nvSpPr>
          <p:spPr>
            <a:xfrm>
              <a:off x="4163685" y="1954206"/>
              <a:ext cx="1988700" cy="36936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0975" lIns="121950" spcFirstLastPara="1" rIns="121950" wrap="square" tIns="609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600"/>
                <a:buFont typeface="Arial"/>
                <a:buNone/>
              </a:pPr>
              <a:r>
                <a:rPr b="0" i="0" lang="en-US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專題起源</a:t>
              </a:r>
              <a:endParaRPr b="0" i="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15" name="Google Shape;115;p3"/>
            <p:cNvSpPr/>
            <p:nvPr/>
          </p:nvSpPr>
          <p:spPr>
            <a:xfrm>
              <a:off x="3542139" y="1954206"/>
              <a:ext cx="385318" cy="385318"/>
            </a:xfrm>
            <a:prstGeom prst="roundRect">
              <a:avLst>
                <a:gd fmla="val 16667" name="adj"/>
              </a:avLst>
            </a:prstGeom>
            <a:solidFill>
              <a:srgbClr val="A6BCC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b="1" i="0" sz="1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16" name="Google Shape;116;p3"/>
            <p:cNvSpPr txBox="1"/>
            <p:nvPr/>
          </p:nvSpPr>
          <p:spPr>
            <a:xfrm>
              <a:off x="3485498" y="1955613"/>
              <a:ext cx="501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01</a:t>
              </a:r>
              <a:endParaRPr b="1" i="0" sz="1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17" name="Google Shape;117;p3"/>
          <p:cNvGrpSpPr/>
          <p:nvPr/>
        </p:nvGrpSpPr>
        <p:grpSpPr>
          <a:xfrm>
            <a:off x="4773609" y="3463966"/>
            <a:ext cx="5031735" cy="523250"/>
            <a:chOff x="3527609" y="1895093"/>
            <a:chExt cx="3028794" cy="523250"/>
          </a:xfrm>
        </p:grpSpPr>
        <p:sp>
          <p:nvSpPr>
            <p:cNvPr id="118" name="Google Shape;118;p3"/>
            <p:cNvSpPr/>
            <p:nvPr/>
          </p:nvSpPr>
          <p:spPr>
            <a:xfrm>
              <a:off x="3995937" y="1954206"/>
              <a:ext cx="1920708" cy="385318"/>
            </a:xfrm>
            <a:prstGeom prst="roundRect">
              <a:avLst>
                <a:gd fmla="val 0" name="adj"/>
              </a:avLst>
            </a:prstGeom>
            <a:noFill/>
            <a:ln cap="flat" cmpd="sng" w="12700">
              <a:solidFill>
                <a:schemeClr val="accent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b="1" i="0" sz="1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19" name="Google Shape;119;p3"/>
            <p:cNvSpPr/>
            <p:nvPr/>
          </p:nvSpPr>
          <p:spPr>
            <a:xfrm>
              <a:off x="4112303" y="1895093"/>
              <a:ext cx="2444100" cy="52325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0975" lIns="121950" spcFirstLastPara="1" rIns="121950" wrap="square" tIns="609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1" i="0" lang="en-US" sz="1300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b="0" i="0" lang="en-US" sz="1300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結帳功能流程</a:t>
              </a:r>
              <a:endParaRPr/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0" i="0" lang="en-US" sz="1300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b="0" i="0" lang="en-US" sz="1000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(流程圖ER MODEL)</a:t>
              </a:r>
              <a:endParaRPr b="0" i="0" sz="13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20" name="Google Shape;120;p3"/>
            <p:cNvSpPr/>
            <p:nvPr/>
          </p:nvSpPr>
          <p:spPr>
            <a:xfrm>
              <a:off x="3542139" y="1954206"/>
              <a:ext cx="385318" cy="385318"/>
            </a:xfrm>
            <a:prstGeom prst="roundRect">
              <a:avLst>
                <a:gd fmla="val 16667" name="adj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b="1" i="0" sz="1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21" name="Google Shape;121;p3"/>
            <p:cNvSpPr txBox="1"/>
            <p:nvPr/>
          </p:nvSpPr>
          <p:spPr>
            <a:xfrm>
              <a:off x="3527609" y="1954206"/>
              <a:ext cx="501137" cy="33855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08</a:t>
              </a:r>
              <a:endParaRPr b="1" i="0" sz="1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22" name="Google Shape;122;p3"/>
          <p:cNvGrpSpPr/>
          <p:nvPr/>
        </p:nvGrpSpPr>
        <p:grpSpPr>
          <a:xfrm>
            <a:off x="4759323" y="1234278"/>
            <a:ext cx="3971506" cy="385200"/>
            <a:chOff x="3523592" y="1954206"/>
            <a:chExt cx="2388445" cy="385200"/>
          </a:xfrm>
        </p:grpSpPr>
        <p:sp>
          <p:nvSpPr>
            <p:cNvPr id="123" name="Google Shape;123;p3"/>
            <p:cNvSpPr/>
            <p:nvPr/>
          </p:nvSpPr>
          <p:spPr>
            <a:xfrm>
              <a:off x="3995937" y="1954206"/>
              <a:ext cx="1916100" cy="385200"/>
            </a:xfrm>
            <a:prstGeom prst="roundRect">
              <a:avLst>
                <a:gd fmla="val 0" name="adj"/>
              </a:avLst>
            </a:prstGeom>
            <a:noFill/>
            <a:ln cap="flat" cmpd="sng" w="12700">
              <a:solidFill>
                <a:schemeClr val="accent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   </a:t>
              </a:r>
              <a:r>
                <a:rPr b="1" i="0" lang="en-US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 </a:t>
              </a:r>
              <a:r>
                <a:rPr b="0" i="0" lang="en-US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組員分工</a:t>
              </a:r>
              <a:r>
                <a:rPr b="0" i="0" lang="en-US" sz="1600" u="none" cap="none" strike="noStrike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endParaRPr b="0" i="0" sz="16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24" name="Google Shape;124;p3"/>
            <p:cNvSpPr/>
            <p:nvPr/>
          </p:nvSpPr>
          <p:spPr>
            <a:xfrm>
              <a:off x="3542139" y="1954206"/>
              <a:ext cx="385200" cy="385200"/>
            </a:xfrm>
            <a:prstGeom prst="roundRect">
              <a:avLst>
                <a:gd fmla="val 16667" name="adj"/>
              </a:avLst>
            </a:prstGeom>
            <a:solidFill>
              <a:srgbClr val="394B5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b="1" i="0" sz="1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25" name="Google Shape;125;p3"/>
            <p:cNvSpPr txBox="1"/>
            <p:nvPr/>
          </p:nvSpPr>
          <p:spPr>
            <a:xfrm>
              <a:off x="3523592" y="1983931"/>
              <a:ext cx="2928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03</a:t>
              </a:r>
              <a:endParaRPr b="1" i="0" sz="2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26" name="Google Shape;126;p3"/>
          <p:cNvGrpSpPr/>
          <p:nvPr/>
        </p:nvGrpSpPr>
        <p:grpSpPr>
          <a:xfrm>
            <a:off x="4779509" y="2575547"/>
            <a:ext cx="4254207" cy="754083"/>
            <a:chOff x="3527609" y="1888073"/>
            <a:chExt cx="2560770" cy="754083"/>
          </a:xfrm>
        </p:grpSpPr>
        <p:sp>
          <p:nvSpPr>
            <p:cNvPr id="127" name="Google Shape;127;p3"/>
            <p:cNvSpPr/>
            <p:nvPr/>
          </p:nvSpPr>
          <p:spPr>
            <a:xfrm>
              <a:off x="3995937" y="1954206"/>
              <a:ext cx="1920600" cy="385200"/>
            </a:xfrm>
            <a:prstGeom prst="roundRect">
              <a:avLst>
                <a:gd fmla="val 0" name="adj"/>
              </a:avLst>
            </a:prstGeom>
            <a:noFill/>
            <a:ln cap="flat" cmpd="sng" w="12700">
              <a:solidFill>
                <a:schemeClr val="accent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b="1" i="0" sz="1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28" name="Google Shape;128;p3"/>
            <p:cNvSpPr/>
            <p:nvPr/>
          </p:nvSpPr>
          <p:spPr>
            <a:xfrm>
              <a:off x="3542139" y="1954206"/>
              <a:ext cx="385200" cy="385200"/>
            </a:xfrm>
            <a:prstGeom prst="roundRect">
              <a:avLst>
                <a:gd fmla="val 16667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b="1" i="0" sz="1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29" name="Google Shape;129;p3"/>
            <p:cNvSpPr txBox="1"/>
            <p:nvPr/>
          </p:nvSpPr>
          <p:spPr>
            <a:xfrm>
              <a:off x="3527609" y="1954206"/>
              <a:ext cx="501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06</a:t>
              </a:r>
              <a:endParaRPr b="1" i="0" sz="1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30" name="Google Shape;130;p3"/>
            <p:cNvSpPr/>
            <p:nvPr/>
          </p:nvSpPr>
          <p:spPr>
            <a:xfrm>
              <a:off x="4099679" y="1888073"/>
              <a:ext cx="1988700" cy="75408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0975" lIns="121950" spcFirstLastPara="1" rIns="121950" wrap="square" tIns="609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1" i="0" lang="en-US" sz="1300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b="0" i="0" lang="en-US" sz="1300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會員功能流程、後台會員管理</a:t>
              </a:r>
              <a:endParaRPr b="0" i="0" sz="13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-US" sz="1400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b="0" i="0" lang="en-US" sz="1000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(流程圖、ER MODEL)</a:t>
              </a:r>
              <a:endParaRPr b="0" i="0" sz="10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1" i="0" sz="13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</p:grpSp>
      <p:grpSp>
        <p:nvGrpSpPr>
          <p:cNvPr id="131" name="Google Shape;131;p3"/>
          <p:cNvGrpSpPr/>
          <p:nvPr/>
        </p:nvGrpSpPr>
        <p:grpSpPr>
          <a:xfrm>
            <a:off x="4761496" y="1689992"/>
            <a:ext cx="3968726" cy="490086"/>
            <a:chOff x="3527609" y="1954206"/>
            <a:chExt cx="2388928" cy="490086"/>
          </a:xfrm>
        </p:grpSpPr>
        <p:sp>
          <p:nvSpPr>
            <p:cNvPr id="132" name="Google Shape;132;p3"/>
            <p:cNvSpPr/>
            <p:nvPr/>
          </p:nvSpPr>
          <p:spPr>
            <a:xfrm>
              <a:off x="3995937" y="1954206"/>
              <a:ext cx="1920600" cy="385200"/>
            </a:xfrm>
            <a:prstGeom prst="roundRect">
              <a:avLst>
                <a:gd fmla="val 0" name="adj"/>
              </a:avLst>
            </a:prstGeom>
            <a:noFill/>
            <a:ln cap="flat" cmpd="sng" w="12700">
              <a:solidFill>
                <a:schemeClr val="accent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b="1" i="0" sz="1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33" name="Google Shape;133;p3"/>
            <p:cNvSpPr/>
            <p:nvPr/>
          </p:nvSpPr>
          <p:spPr>
            <a:xfrm>
              <a:off x="4127728" y="1960992"/>
              <a:ext cx="1722600" cy="48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0975" lIns="121950" spcFirstLastPara="1" rIns="121950" wrap="square" tIns="609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1" i="0" lang="en-US" sz="1300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 </a:t>
              </a:r>
              <a:r>
                <a:rPr b="0" i="0" lang="en-US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ER MODEL</a:t>
              </a:r>
              <a:endParaRPr b="0" i="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34" name="Google Shape;134;p3"/>
            <p:cNvSpPr/>
            <p:nvPr/>
          </p:nvSpPr>
          <p:spPr>
            <a:xfrm>
              <a:off x="3542139" y="1954206"/>
              <a:ext cx="385200" cy="385200"/>
            </a:xfrm>
            <a:prstGeom prst="roundRect">
              <a:avLst>
                <a:gd fmla="val 16667" name="adj"/>
              </a:avLst>
            </a:prstGeom>
            <a:solidFill>
              <a:srgbClr val="A6BCC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b="1" i="0" sz="1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35" name="Google Shape;135;p3"/>
            <p:cNvSpPr txBox="1"/>
            <p:nvPr/>
          </p:nvSpPr>
          <p:spPr>
            <a:xfrm>
              <a:off x="3527609" y="1954206"/>
              <a:ext cx="501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04</a:t>
              </a:r>
              <a:endParaRPr b="1" i="0" sz="1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136" name="Google Shape;136;p3"/>
          <p:cNvSpPr/>
          <p:nvPr/>
        </p:nvSpPr>
        <p:spPr>
          <a:xfrm>
            <a:off x="5744848" y="3051168"/>
            <a:ext cx="40605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60975" lIns="121950" spcFirstLastPara="1" rIns="121950" wrap="square" tIns="609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</a:t>
            </a:r>
            <a:r>
              <a:rPr b="0" i="0" lang="en-US" sz="13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購物車功能流程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 </a:t>
            </a:r>
            <a:r>
              <a:rPr b="0" i="0" lang="en-US" sz="10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(流程圖、ER MODEL)</a:t>
            </a:r>
            <a:endParaRPr b="0" i="0" sz="1300" u="none" cap="none" strike="noStrik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grpSp>
        <p:nvGrpSpPr>
          <p:cNvPr id="137" name="Google Shape;137;p3"/>
          <p:cNvGrpSpPr/>
          <p:nvPr/>
        </p:nvGrpSpPr>
        <p:grpSpPr>
          <a:xfrm>
            <a:off x="4694631" y="4474328"/>
            <a:ext cx="4430499" cy="385200"/>
            <a:chOff x="3485498" y="1954206"/>
            <a:chExt cx="2666887" cy="385200"/>
          </a:xfrm>
        </p:grpSpPr>
        <p:sp>
          <p:nvSpPr>
            <p:cNvPr id="138" name="Google Shape;138;p3"/>
            <p:cNvSpPr/>
            <p:nvPr/>
          </p:nvSpPr>
          <p:spPr>
            <a:xfrm>
              <a:off x="3995937" y="1954206"/>
              <a:ext cx="1916100" cy="385200"/>
            </a:xfrm>
            <a:prstGeom prst="roundRect">
              <a:avLst>
                <a:gd fmla="val 0" name="adj"/>
              </a:avLst>
            </a:prstGeom>
            <a:noFill/>
            <a:ln cap="flat" cmpd="sng" w="12700">
              <a:solidFill>
                <a:schemeClr val="accent2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b="1" i="0" sz="1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39" name="Google Shape;139;p3"/>
            <p:cNvSpPr/>
            <p:nvPr/>
          </p:nvSpPr>
          <p:spPr>
            <a:xfrm>
              <a:off x="4163685" y="1954206"/>
              <a:ext cx="1988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0975" lIns="121950" spcFirstLastPara="1" rIns="121950" wrap="square" tIns="609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300"/>
                <a:buFont typeface="Arial"/>
                <a:buNone/>
              </a:pPr>
              <a:r>
                <a:rPr lang="en-US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參考資料</a:t>
              </a:r>
              <a:endParaRPr b="0" i="0" sz="16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  <p:sp>
          <p:nvSpPr>
            <p:cNvPr id="140" name="Google Shape;140;p3"/>
            <p:cNvSpPr/>
            <p:nvPr/>
          </p:nvSpPr>
          <p:spPr>
            <a:xfrm>
              <a:off x="3542139" y="1954206"/>
              <a:ext cx="385200" cy="385200"/>
            </a:xfrm>
            <a:prstGeom prst="roundRect">
              <a:avLst>
                <a:gd fmla="val 16667" name="adj"/>
              </a:avLst>
            </a:prstGeom>
            <a:solidFill>
              <a:srgbClr val="A6BCC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1" i="0" lang="en-US" sz="18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endParaRPr b="1" i="0" sz="1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1" name="Google Shape;141;p3"/>
            <p:cNvSpPr txBox="1"/>
            <p:nvPr/>
          </p:nvSpPr>
          <p:spPr>
            <a:xfrm>
              <a:off x="3485498" y="1955613"/>
              <a:ext cx="5010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r>
                <a:rPr b="1" lang="en-US" sz="1600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10</a:t>
              </a:r>
              <a:endParaRPr b="1" i="0" sz="16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" name="Google Shape;147;p6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148" name="Google Shape;148;p6"/>
            <p:cNvSpPr/>
            <p:nvPr/>
          </p:nvSpPr>
          <p:spPr>
            <a:xfrm>
              <a:off x="267904" y="-25298"/>
              <a:ext cx="4269658" cy="516879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49" name="Google Shape;149;p6"/>
            <p:cNvSpPr/>
            <p:nvPr/>
          </p:nvSpPr>
          <p:spPr>
            <a:xfrm>
              <a:off x="-58652" y="-27977"/>
              <a:ext cx="4269658" cy="517147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150" name="Google Shape;150;p6"/>
          <p:cNvSpPr txBox="1"/>
          <p:nvPr/>
        </p:nvSpPr>
        <p:spPr>
          <a:xfrm>
            <a:off x="990600" y="2175974"/>
            <a:ext cx="1014900" cy="6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01</a:t>
            </a:r>
            <a:endParaRPr b="1" i="0" sz="51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1" name="Google Shape;151;p6"/>
          <p:cNvSpPr txBox="1"/>
          <p:nvPr/>
        </p:nvSpPr>
        <p:spPr>
          <a:xfrm>
            <a:off x="3581400" y="2114550"/>
            <a:ext cx="4724400" cy="5847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32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專題起源</a:t>
            </a:r>
            <a:endParaRPr b="1" i="0" sz="3200" u="none" cap="none" strike="noStrik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5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4721525" y="672488"/>
            <a:ext cx="3522300" cy="6832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394B5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近年來健康食品的需求快速成長，但在選購上仍面臨以下問題</a:t>
            </a:r>
            <a:r>
              <a:rPr b="1" i="0" lang="en-US" sz="16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：</a:t>
            </a:r>
            <a:endParaRPr b="1" i="0" sz="1600" u="none" cap="none" strike="noStrike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grpSp>
        <p:nvGrpSpPr>
          <p:cNvPr id="159" name="Google Shape;159;p5"/>
          <p:cNvGrpSpPr/>
          <p:nvPr/>
        </p:nvGrpSpPr>
        <p:grpSpPr>
          <a:xfrm>
            <a:off x="4572208" y="2195680"/>
            <a:ext cx="3956617" cy="374762"/>
            <a:chOff x="6329844" y="3864279"/>
            <a:chExt cx="5275490" cy="499682"/>
          </a:xfrm>
        </p:grpSpPr>
        <p:grpSp>
          <p:nvGrpSpPr>
            <p:cNvPr id="160" name="Google Shape;160;p5"/>
            <p:cNvGrpSpPr/>
            <p:nvPr/>
          </p:nvGrpSpPr>
          <p:grpSpPr>
            <a:xfrm>
              <a:off x="6329844" y="3864279"/>
              <a:ext cx="494682" cy="494682"/>
              <a:chOff x="7214440" y="3667670"/>
              <a:chExt cx="413117" cy="413117"/>
            </a:xfrm>
          </p:grpSpPr>
          <p:sp>
            <p:nvSpPr>
              <p:cNvPr id="161" name="Google Shape;161;p5"/>
              <p:cNvSpPr/>
              <p:nvPr/>
            </p:nvSpPr>
            <p:spPr>
              <a:xfrm>
                <a:off x="7214440" y="3667670"/>
                <a:ext cx="413117" cy="41311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r>
                  <a:t/>
                </a:r>
                <a:endParaRPr b="0" i="0" sz="135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62" name="Google Shape;162;p5"/>
              <p:cNvSpPr/>
              <p:nvPr/>
            </p:nvSpPr>
            <p:spPr>
              <a:xfrm>
                <a:off x="7298468" y="3754004"/>
                <a:ext cx="240468" cy="240449"/>
              </a:xfrm>
              <a:custGeom>
                <a:rect b="b" l="l" r="r" t="t"/>
                <a:pathLst>
                  <a:path extrusionOk="0" h="21600" w="21600">
                    <a:moveTo>
                      <a:pt x="9579" y="17044"/>
                    </a:moveTo>
                    <a:cubicBezTo>
                      <a:pt x="9428" y="17174"/>
                      <a:pt x="9252" y="17274"/>
                      <a:pt x="9050" y="17344"/>
                    </a:cubicBezTo>
                    <a:cubicBezTo>
                      <a:pt x="8849" y="17415"/>
                      <a:pt x="8636" y="17450"/>
                      <a:pt x="8413" y="17450"/>
                    </a:cubicBezTo>
                    <a:cubicBezTo>
                      <a:pt x="7887" y="17450"/>
                      <a:pt x="7488" y="17288"/>
                      <a:pt x="7214" y="16966"/>
                    </a:cubicBezTo>
                    <a:cubicBezTo>
                      <a:pt x="6941" y="16644"/>
                      <a:pt x="6797" y="16226"/>
                      <a:pt x="6782" y="15715"/>
                    </a:cubicBezTo>
                    <a:lnTo>
                      <a:pt x="5864" y="15715"/>
                    </a:lnTo>
                    <a:cubicBezTo>
                      <a:pt x="5857" y="16122"/>
                      <a:pt x="5913" y="16486"/>
                      <a:pt x="6032" y="16805"/>
                    </a:cubicBezTo>
                    <a:cubicBezTo>
                      <a:pt x="6151" y="17123"/>
                      <a:pt x="6321" y="17393"/>
                      <a:pt x="6545" y="17611"/>
                    </a:cubicBezTo>
                    <a:cubicBezTo>
                      <a:pt x="6767" y="17830"/>
                      <a:pt x="7038" y="17995"/>
                      <a:pt x="7355" y="18106"/>
                    </a:cubicBezTo>
                    <a:cubicBezTo>
                      <a:pt x="7671" y="18218"/>
                      <a:pt x="8024" y="18273"/>
                      <a:pt x="8413" y="18273"/>
                    </a:cubicBezTo>
                    <a:cubicBezTo>
                      <a:pt x="8773" y="18273"/>
                      <a:pt x="9113" y="18223"/>
                      <a:pt x="9434" y="18123"/>
                    </a:cubicBezTo>
                    <a:cubicBezTo>
                      <a:pt x="9754" y="18023"/>
                      <a:pt x="10033" y="17873"/>
                      <a:pt x="10271" y="17672"/>
                    </a:cubicBezTo>
                    <a:cubicBezTo>
                      <a:pt x="10509" y="17472"/>
                      <a:pt x="10697" y="17222"/>
                      <a:pt x="10837" y="16922"/>
                    </a:cubicBezTo>
                    <a:cubicBezTo>
                      <a:pt x="10978" y="16621"/>
                      <a:pt x="11048" y="16275"/>
                      <a:pt x="11048" y="15881"/>
                    </a:cubicBezTo>
                    <a:cubicBezTo>
                      <a:pt x="11048" y="15407"/>
                      <a:pt x="10935" y="14995"/>
                      <a:pt x="10708" y="14646"/>
                    </a:cubicBezTo>
                    <a:cubicBezTo>
                      <a:pt x="10481" y="14298"/>
                      <a:pt x="10134" y="14072"/>
                      <a:pt x="9666" y="13968"/>
                    </a:cubicBezTo>
                    <a:lnTo>
                      <a:pt x="9666" y="13946"/>
                    </a:lnTo>
                    <a:cubicBezTo>
                      <a:pt x="9968" y="13805"/>
                      <a:pt x="10220" y="13597"/>
                      <a:pt x="10422" y="13323"/>
                    </a:cubicBezTo>
                    <a:cubicBezTo>
                      <a:pt x="10624" y="13048"/>
                      <a:pt x="10724" y="12734"/>
                      <a:pt x="10724" y="12377"/>
                    </a:cubicBezTo>
                    <a:cubicBezTo>
                      <a:pt x="10724" y="12014"/>
                      <a:pt x="10665" y="11698"/>
                      <a:pt x="10546" y="11432"/>
                    </a:cubicBezTo>
                    <a:cubicBezTo>
                      <a:pt x="10427" y="11165"/>
                      <a:pt x="10263" y="10946"/>
                      <a:pt x="10055" y="10776"/>
                    </a:cubicBezTo>
                    <a:cubicBezTo>
                      <a:pt x="9846" y="10605"/>
                      <a:pt x="9599" y="10477"/>
                      <a:pt x="9315" y="10392"/>
                    </a:cubicBezTo>
                    <a:cubicBezTo>
                      <a:pt x="9030" y="10306"/>
                      <a:pt x="8722" y="10264"/>
                      <a:pt x="8391" y="10264"/>
                    </a:cubicBezTo>
                    <a:cubicBezTo>
                      <a:pt x="8010" y="10264"/>
                      <a:pt x="7673" y="10326"/>
                      <a:pt x="7382" y="10453"/>
                    </a:cubicBezTo>
                    <a:cubicBezTo>
                      <a:pt x="7090" y="10579"/>
                      <a:pt x="6847" y="10753"/>
                      <a:pt x="6653" y="10976"/>
                    </a:cubicBezTo>
                    <a:cubicBezTo>
                      <a:pt x="6459" y="11198"/>
                      <a:pt x="6309" y="11466"/>
                      <a:pt x="6204" y="11777"/>
                    </a:cubicBezTo>
                    <a:cubicBezTo>
                      <a:pt x="6100" y="12088"/>
                      <a:pt x="6040" y="12433"/>
                      <a:pt x="6026" y="12811"/>
                    </a:cubicBezTo>
                    <a:lnTo>
                      <a:pt x="6944" y="12811"/>
                    </a:lnTo>
                    <a:cubicBezTo>
                      <a:pt x="6944" y="12581"/>
                      <a:pt x="6972" y="12363"/>
                      <a:pt x="7031" y="12155"/>
                    </a:cubicBezTo>
                    <a:cubicBezTo>
                      <a:pt x="7088" y="11947"/>
                      <a:pt x="7177" y="11766"/>
                      <a:pt x="7296" y="11610"/>
                    </a:cubicBezTo>
                    <a:cubicBezTo>
                      <a:pt x="7414" y="11454"/>
                      <a:pt x="7565" y="11330"/>
                      <a:pt x="7749" y="11237"/>
                    </a:cubicBezTo>
                    <a:cubicBezTo>
                      <a:pt x="7932" y="11144"/>
                      <a:pt x="8147" y="11098"/>
                      <a:pt x="8391" y="11098"/>
                    </a:cubicBezTo>
                    <a:cubicBezTo>
                      <a:pt x="8780" y="11098"/>
                      <a:pt x="9104" y="11204"/>
                      <a:pt x="9364" y="11415"/>
                    </a:cubicBezTo>
                    <a:cubicBezTo>
                      <a:pt x="9623" y="11627"/>
                      <a:pt x="9752" y="11943"/>
                      <a:pt x="9752" y="12366"/>
                    </a:cubicBezTo>
                    <a:cubicBezTo>
                      <a:pt x="9752" y="12574"/>
                      <a:pt x="9713" y="12759"/>
                      <a:pt x="9634" y="12922"/>
                    </a:cubicBezTo>
                    <a:cubicBezTo>
                      <a:pt x="9554" y="13086"/>
                      <a:pt x="9448" y="13221"/>
                      <a:pt x="9315" y="13329"/>
                    </a:cubicBezTo>
                    <a:cubicBezTo>
                      <a:pt x="9182" y="13436"/>
                      <a:pt x="9027" y="13517"/>
                      <a:pt x="8851" y="13574"/>
                    </a:cubicBezTo>
                    <a:cubicBezTo>
                      <a:pt x="8674" y="13629"/>
                      <a:pt x="8488" y="13657"/>
                      <a:pt x="8294" y="13657"/>
                    </a:cubicBezTo>
                    <a:lnTo>
                      <a:pt x="7992" y="13657"/>
                    </a:lnTo>
                    <a:cubicBezTo>
                      <a:pt x="7963" y="13657"/>
                      <a:pt x="7930" y="13653"/>
                      <a:pt x="7895" y="13645"/>
                    </a:cubicBezTo>
                    <a:lnTo>
                      <a:pt x="7895" y="14447"/>
                    </a:lnTo>
                    <a:cubicBezTo>
                      <a:pt x="8067" y="14424"/>
                      <a:pt x="8251" y="14413"/>
                      <a:pt x="8445" y="14413"/>
                    </a:cubicBezTo>
                    <a:cubicBezTo>
                      <a:pt x="8676" y="14413"/>
                      <a:pt x="8890" y="14444"/>
                      <a:pt x="9088" y="14507"/>
                    </a:cubicBezTo>
                    <a:cubicBezTo>
                      <a:pt x="9286" y="14571"/>
                      <a:pt x="9457" y="14667"/>
                      <a:pt x="9601" y="14797"/>
                    </a:cubicBezTo>
                    <a:cubicBezTo>
                      <a:pt x="9745" y="14927"/>
                      <a:pt x="9860" y="15086"/>
                      <a:pt x="9947" y="15275"/>
                    </a:cubicBezTo>
                    <a:cubicBezTo>
                      <a:pt x="10033" y="15464"/>
                      <a:pt x="10076" y="15682"/>
                      <a:pt x="10076" y="15926"/>
                    </a:cubicBezTo>
                    <a:cubicBezTo>
                      <a:pt x="10076" y="16163"/>
                      <a:pt x="10031" y="16377"/>
                      <a:pt x="9941" y="16565"/>
                    </a:cubicBezTo>
                    <a:cubicBezTo>
                      <a:pt x="9851" y="16754"/>
                      <a:pt x="9731" y="16914"/>
                      <a:pt x="9579" y="17044"/>
                    </a:cubicBezTo>
                    <a:moveTo>
                      <a:pt x="14257" y="18151"/>
                    </a:moveTo>
                    <a:lnTo>
                      <a:pt x="15175" y="18151"/>
                    </a:lnTo>
                    <a:lnTo>
                      <a:pt x="15175" y="10264"/>
                    </a:lnTo>
                    <a:lnTo>
                      <a:pt x="14473" y="10264"/>
                    </a:lnTo>
                    <a:cubicBezTo>
                      <a:pt x="14422" y="10561"/>
                      <a:pt x="14329" y="10805"/>
                      <a:pt x="14192" y="10998"/>
                    </a:cubicBezTo>
                    <a:cubicBezTo>
                      <a:pt x="14055" y="11191"/>
                      <a:pt x="13888" y="11343"/>
                      <a:pt x="13690" y="11454"/>
                    </a:cubicBezTo>
                    <a:cubicBezTo>
                      <a:pt x="13492" y="11565"/>
                      <a:pt x="13271" y="11641"/>
                      <a:pt x="13026" y="11682"/>
                    </a:cubicBezTo>
                    <a:cubicBezTo>
                      <a:pt x="12781" y="11723"/>
                      <a:pt x="12529" y="11743"/>
                      <a:pt x="12270" y="11743"/>
                    </a:cubicBezTo>
                    <a:lnTo>
                      <a:pt x="12270" y="12499"/>
                    </a:lnTo>
                    <a:lnTo>
                      <a:pt x="14257" y="12499"/>
                    </a:lnTo>
                    <a:cubicBezTo>
                      <a:pt x="14257" y="12499"/>
                      <a:pt x="14257" y="18151"/>
                      <a:pt x="14257" y="18151"/>
                    </a:cubicBezTo>
                    <a:close/>
                    <a:moveTo>
                      <a:pt x="20618" y="6873"/>
                    </a:moveTo>
                    <a:lnTo>
                      <a:pt x="982" y="6873"/>
                    </a:lnTo>
                    <a:lnTo>
                      <a:pt x="982" y="3928"/>
                    </a:lnTo>
                    <a:cubicBezTo>
                      <a:pt x="982" y="3385"/>
                      <a:pt x="1421" y="2945"/>
                      <a:pt x="1964" y="2945"/>
                    </a:cubicBezTo>
                    <a:lnTo>
                      <a:pt x="3927" y="2945"/>
                    </a:lnTo>
                    <a:lnTo>
                      <a:pt x="3927" y="4418"/>
                    </a:lnTo>
                    <a:cubicBezTo>
                      <a:pt x="3927" y="4690"/>
                      <a:pt x="4147" y="4909"/>
                      <a:pt x="4418" y="4909"/>
                    </a:cubicBezTo>
                    <a:cubicBezTo>
                      <a:pt x="4690" y="4909"/>
                      <a:pt x="4909" y="4690"/>
                      <a:pt x="4909" y="4418"/>
                    </a:cubicBezTo>
                    <a:lnTo>
                      <a:pt x="4909" y="2945"/>
                    </a:lnTo>
                    <a:lnTo>
                      <a:pt x="16691" y="2945"/>
                    </a:lnTo>
                    <a:lnTo>
                      <a:pt x="16691" y="4418"/>
                    </a:lnTo>
                    <a:cubicBezTo>
                      <a:pt x="16691" y="4690"/>
                      <a:pt x="16910" y="4909"/>
                      <a:pt x="17182" y="4909"/>
                    </a:cubicBezTo>
                    <a:cubicBezTo>
                      <a:pt x="17453" y="4909"/>
                      <a:pt x="17673" y="4690"/>
                      <a:pt x="17673" y="4418"/>
                    </a:cubicBezTo>
                    <a:lnTo>
                      <a:pt x="17673" y="2945"/>
                    </a:lnTo>
                    <a:lnTo>
                      <a:pt x="19636" y="2945"/>
                    </a:lnTo>
                    <a:cubicBezTo>
                      <a:pt x="20179" y="2945"/>
                      <a:pt x="20618" y="3385"/>
                      <a:pt x="20618" y="3928"/>
                    </a:cubicBezTo>
                    <a:cubicBezTo>
                      <a:pt x="20618" y="3928"/>
                      <a:pt x="20618" y="6873"/>
                      <a:pt x="20618" y="6873"/>
                    </a:cubicBezTo>
                    <a:close/>
                    <a:moveTo>
                      <a:pt x="20618" y="19636"/>
                    </a:moveTo>
                    <a:cubicBezTo>
                      <a:pt x="20618" y="20179"/>
                      <a:pt x="20179" y="20618"/>
                      <a:pt x="19636" y="20618"/>
                    </a:cubicBezTo>
                    <a:lnTo>
                      <a:pt x="1964" y="20618"/>
                    </a:lnTo>
                    <a:cubicBezTo>
                      <a:pt x="1421" y="20618"/>
                      <a:pt x="982" y="20179"/>
                      <a:pt x="982" y="19636"/>
                    </a:cubicBezTo>
                    <a:lnTo>
                      <a:pt x="982" y="7855"/>
                    </a:lnTo>
                    <a:lnTo>
                      <a:pt x="20618" y="7855"/>
                    </a:lnTo>
                    <a:cubicBezTo>
                      <a:pt x="20618" y="7855"/>
                      <a:pt x="20618" y="19636"/>
                      <a:pt x="20618" y="19636"/>
                    </a:cubicBezTo>
                    <a:close/>
                    <a:moveTo>
                      <a:pt x="19636" y="1964"/>
                    </a:moveTo>
                    <a:lnTo>
                      <a:pt x="17673" y="1964"/>
                    </a:lnTo>
                    <a:lnTo>
                      <a:pt x="17673" y="491"/>
                    </a:lnTo>
                    <a:cubicBezTo>
                      <a:pt x="17673" y="220"/>
                      <a:pt x="17453" y="0"/>
                      <a:pt x="17182" y="0"/>
                    </a:cubicBezTo>
                    <a:cubicBezTo>
                      <a:pt x="16910" y="0"/>
                      <a:pt x="16691" y="220"/>
                      <a:pt x="16691" y="491"/>
                    </a:cubicBezTo>
                    <a:lnTo>
                      <a:pt x="16691" y="1964"/>
                    </a:lnTo>
                    <a:lnTo>
                      <a:pt x="4909" y="1964"/>
                    </a:lnTo>
                    <a:lnTo>
                      <a:pt x="4909" y="491"/>
                    </a:lnTo>
                    <a:cubicBezTo>
                      <a:pt x="4909" y="220"/>
                      <a:pt x="4690" y="0"/>
                      <a:pt x="4418" y="0"/>
                    </a:cubicBezTo>
                    <a:cubicBezTo>
                      <a:pt x="4147" y="0"/>
                      <a:pt x="3927" y="220"/>
                      <a:pt x="3927" y="491"/>
                    </a:cubicBezTo>
                    <a:lnTo>
                      <a:pt x="3927" y="1964"/>
                    </a:lnTo>
                    <a:lnTo>
                      <a:pt x="1964" y="1964"/>
                    </a:lnTo>
                    <a:cubicBezTo>
                      <a:pt x="879" y="1964"/>
                      <a:pt x="0" y="2843"/>
                      <a:pt x="0" y="3928"/>
                    </a:cubicBezTo>
                    <a:lnTo>
                      <a:pt x="0" y="19636"/>
                    </a:lnTo>
                    <a:cubicBezTo>
                      <a:pt x="0" y="20721"/>
                      <a:pt x="879" y="21600"/>
                      <a:pt x="1964" y="21600"/>
                    </a:cubicBezTo>
                    <a:lnTo>
                      <a:pt x="19636" y="21600"/>
                    </a:lnTo>
                    <a:cubicBezTo>
                      <a:pt x="20721" y="21600"/>
                      <a:pt x="21600" y="20721"/>
                      <a:pt x="21600" y="19636"/>
                    </a:cubicBezTo>
                    <a:lnTo>
                      <a:pt x="21600" y="3928"/>
                    </a:lnTo>
                    <a:cubicBezTo>
                      <a:pt x="21600" y="2843"/>
                      <a:pt x="20721" y="1964"/>
                      <a:pt x="19636" y="1964"/>
                    </a:cubicBezTo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r>
                  <a:t/>
                </a:r>
                <a:endParaRPr b="0" i="0" sz="1350" u="none" cap="none" strike="noStrik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163" name="Google Shape;163;p5"/>
            <p:cNvSpPr/>
            <p:nvPr/>
          </p:nvSpPr>
          <p:spPr>
            <a:xfrm>
              <a:off x="6824533" y="3945439"/>
              <a:ext cx="4780801" cy="41852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just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-US" sz="1200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購買流程分散，搜尋、下單與付款缺乏整體串聯</a:t>
              </a:r>
              <a:endParaRPr b="0" i="0" sz="12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</p:grpSp>
      <p:grpSp>
        <p:nvGrpSpPr>
          <p:cNvPr id="164" name="Google Shape;164;p5"/>
          <p:cNvGrpSpPr/>
          <p:nvPr/>
        </p:nvGrpSpPr>
        <p:grpSpPr>
          <a:xfrm>
            <a:off x="4572208" y="2652659"/>
            <a:ext cx="4091380" cy="517950"/>
            <a:chOff x="6329844" y="4473585"/>
            <a:chExt cx="5455173" cy="690600"/>
          </a:xfrm>
        </p:grpSpPr>
        <p:grpSp>
          <p:nvGrpSpPr>
            <p:cNvPr id="165" name="Google Shape;165;p5"/>
            <p:cNvGrpSpPr/>
            <p:nvPr/>
          </p:nvGrpSpPr>
          <p:grpSpPr>
            <a:xfrm>
              <a:off x="6329844" y="4521085"/>
              <a:ext cx="494682" cy="494682"/>
              <a:chOff x="7214440" y="4445415"/>
              <a:chExt cx="413117" cy="413117"/>
            </a:xfrm>
          </p:grpSpPr>
          <p:sp>
            <p:nvSpPr>
              <p:cNvPr id="166" name="Google Shape;166;p5"/>
              <p:cNvSpPr/>
              <p:nvPr/>
            </p:nvSpPr>
            <p:spPr>
              <a:xfrm>
                <a:off x="7214440" y="4445415"/>
                <a:ext cx="413117" cy="413117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r>
                  <a:t/>
                </a:r>
                <a:endParaRPr b="0" i="0" sz="135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67" name="Google Shape;167;p5"/>
              <p:cNvSpPr/>
              <p:nvPr/>
            </p:nvSpPr>
            <p:spPr>
              <a:xfrm>
                <a:off x="7298468" y="4542637"/>
                <a:ext cx="240468" cy="218673"/>
              </a:xfrm>
              <a:custGeom>
                <a:rect b="b" l="l" r="r" t="t"/>
                <a:pathLst>
                  <a:path extrusionOk="0" h="21144" w="21600">
                    <a:moveTo>
                      <a:pt x="20618" y="7406"/>
                    </a:moveTo>
                    <a:lnTo>
                      <a:pt x="13580" y="7406"/>
                    </a:lnTo>
                    <a:cubicBezTo>
                      <a:pt x="13156" y="6803"/>
                      <a:pt x="12718" y="6095"/>
                      <a:pt x="12319" y="5293"/>
                    </a:cubicBezTo>
                    <a:lnTo>
                      <a:pt x="20618" y="5293"/>
                    </a:lnTo>
                    <a:cubicBezTo>
                      <a:pt x="20618" y="5293"/>
                      <a:pt x="20618" y="7406"/>
                      <a:pt x="20618" y="7406"/>
                    </a:cubicBezTo>
                    <a:close/>
                    <a:moveTo>
                      <a:pt x="19636" y="13747"/>
                    </a:moveTo>
                    <a:lnTo>
                      <a:pt x="11291" y="13747"/>
                    </a:lnTo>
                    <a:lnTo>
                      <a:pt x="11291" y="8463"/>
                    </a:lnTo>
                    <a:lnTo>
                      <a:pt x="13090" y="8463"/>
                    </a:lnTo>
                    <a:cubicBezTo>
                      <a:pt x="14022" y="9712"/>
                      <a:pt x="14815" y="10437"/>
                      <a:pt x="14882" y="10497"/>
                    </a:cubicBezTo>
                    <a:cubicBezTo>
                      <a:pt x="15009" y="10610"/>
                      <a:pt x="15174" y="10644"/>
                      <a:pt x="15323" y="10601"/>
                    </a:cubicBezTo>
                    <a:cubicBezTo>
                      <a:pt x="15418" y="10574"/>
                      <a:pt x="15505" y="10516"/>
                      <a:pt x="15573" y="10429"/>
                    </a:cubicBezTo>
                    <a:cubicBezTo>
                      <a:pt x="15746" y="10205"/>
                      <a:pt x="15718" y="9871"/>
                      <a:pt x="15510" y="9684"/>
                    </a:cubicBezTo>
                    <a:cubicBezTo>
                      <a:pt x="15498" y="9674"/>
                      <a:pt x="15023" y="9238"/>
                      <a:pt x="14383" y="8463"/>
                    </a:cubicBezTo>
                    <a:lnTo>
                      <a:pt x="19636" y="8463"/>
                    </a:lnTo>
                    <a:cubicBezTo>
                      <a:pt x="19636" y="8463"/>
                      <a:pt x="19636" y="13747"/>
                      <a:pt x="19636" y="13747"/>
                    </a:cubicBezTo>
                    <a:close/>
                    <a:moveTo>
                      <a:pt x="19636" y="20087"/>
                    </a:moveTo>
                    <a:lnTo>
                      <a:pt x="11291" y="20087"/>
                    </a:lnTo>
                    <a:lnTo>
                      <a:pt x="11291" y="14803"/>
                    </a:lnTo>
                    <a:lnTo>
                      <a:pt x="19636" y="14803"/>
                    </a:lnTo>
                    <a:cubicBezTo>
                      <a:pt x="19636" y="14803"/>
                      <a:pt x="19636" y="20087"/>
                      <a:pt x="19636" y="20087"/>
                    </a:cubicBezTo>
                    <a:close/>
                    <a:moveTo>
                      <a:pt x="11291" y="5461"/>
                    </a:moveTo>
                    <a:cubicBezTo>
                      <a:pt x="11626" y="6178"/>
                      <a:pt x="11991" y="6828"/>
                      <a:pt x="12360" y="7406"/>
                    </a:cubicBezTo>
                    <a:lnTo>
                      <a:pt x="11291" y="7406"/>
                    </a:lnTo>
                    <a:cubicBezTo>
                      <a:pt x="11291" y="7406"/>
                      <a:pt x="11291" y="5461"/>
                      <a:pt x="11291" y="5461"/>
                    </a:cubicBezTo>
                    <a:close/>
                    <a:moveTo>
                      <a:pt x="12871" y="1481"/>
                    </a:moveTo>
                    <a:cubicBezTo>
                      <a:pt x="14045" y="751"/>
                      <a:pt x="15436" y="979"/>
                      <a:pt x="15979" y="1990"/>
                    </a:cubicBezTo>
                    <a:cubicBezTo>
                      <a:pt x="16343" y="2668"/>
                      <a:pt x="16223" y="3523"/>
                      <a:pt x="15755" y="4236"/>
                    </a:cubicBezTo>
                    <a:lnTo>
                      <a:pt x="11845" y="4236"/>
                    </a:lnTo>
                    <a:cubicBezTo>
                      <a:pt x="11740" y="3975"/>
                      <a:pt x="11641" y="3708"/>
                      <a:pt x="11550" y="3432"/>
                    </a:cubicBezTo>
                    <a:cubicBezTo>
                      <a:pt x="11653" y="2691"/>
                      <a:pt x="12120" y="1947"/>
                      <a:pt x="12871" y="1481"/>
                    </a:cubicBezTo>
                    <a:moveTo>
                      <a:pt x="10309" y="7406"/>
                    </a:moveTo>
                    <a:lnTo>
                      <a:pt x="9224" y="7406"/>
                    </a:lnTo>
                    <a:cubicBezTo>
                      <a:pt x="9600" y="6819"/>
                      <a:pt x="9970" y="6158"/>
                      <a:pt x="10309" y="5429"/>
                    </a:cubicBezTo>
                    <a:cubicBezTo>
                      <a:pt x="10309" y="5429"/>
                      <a:pt x="10309" y="7406"/>
                      <a:pt x="10309" y="7406"/>
                    </a:cubicBezTo>
                    <a:close/>
                    <a:moveTo>
                      <a:pt x="10309" y="13747"/>
                    </a:moveTo>
                    <a:lnTo>
                      <a:pt x="1964" y="13747"/>
                    </a:lnTo>
                    <a:lnTo>
                      <a:pt x="1964" y="8463"/>
                    </a:lnTo>
                    <a:lnTo>
                      <a:pt x="7202" y="8463"/>
                    </a:lnTo>
                    <a:cubicBezTo>
                      <a:pt x="6563" y="9238"/>
                      <a:pt x="6087" y="9674"/>
                      <a:pt x="6075" y="9684"/>
                    </a:cubicBezTo>
                    <a:cubicBezTo>
                      <a:pt x="5867" y="9871"/>
                      <a:pt x="5839" y="10205"/>
                      <a:pt x="6012" y="10429"/>
                    </a:cubicBezTo>
                    <a:cubicBezTo>
                      <a:pt x="6080" y="10516"/>
                      <a:pt x="6167" y="10574"/>
                      <a:pt x="6261" y="10601"/>
                    </a:cubicBezTo>
                    <a:cubicBezTo>
                      <a:pt x="6411" y="10644"/>
                      <a:pt x="6575" y="10610"/>
                      <a:pt x="6703" y="10497"/>
                    </a:cubicBezTo>
                    <a:cubicBezTo>
                      <a:pt x="6770" y="10437"/>
                      <a:pt x="7563" y="9712"/>
                      <a:pt x="8495" y="8463"/>
                    </a:cubicBezTo>
                    <a:lnTo>
                      <a:pt x="10309" y="8463"/>
                    </a:lnTo>
                    <a:cubicBezTo>
                      <a:pt x="10309" y="8463"/>
                      <a:pt x="10309" y="13747"/>
                      <a:pt x="10309" y="13747"/>
                    </a:cubicBezTo>
                    <a:close/>
                    <a:moveTo>
                      <a:pt x="10309" y="20087"/>
                    </a:moveTo>
                    <a:lnTo>
                      <a:pt x="1964" y="20087"/>
                    </a:lnTo>
                    <a:lnTo>
                      <a:pt x="1964" y="14803"/>
                    </a:lnTo>
                    <a:lnTo>
                      <a:pt x="10309" y="14803"/>
                    </a:lnTo>
                    <a:cubicBezTo>
                      <a:pt x="10309" y="14803"/>
                      <a:pt x="10309" y="20087"/>
                      <a:pt x="10309" y="20087"/>
                    </a:cubicBezTo>
                    <a:close/>
                    <a:moveTo>
                      <a:pt x="982" y="7406"/>
                    </a:moveTo>
                    <a:lnTo>
                      <a:pt x="982" y="5293"/>
                    </a:lnTo>
                    <a:lnTo>
                      <a:pt x="9266" y="5293"/>
                    </a:lnTo>
                    <a:cubicBezTo>
                      <a:pt x="8867" y="6095"/>
                      <a:pt x="8429" y="6803"/>
                      <a:pt x="8005" y="7406"/>
                    </a:cubicBezTo>
                    <a:cubicBezTo>
                      <a:pt x="8005" y="7406"/>
                      <a:pt x="982" y="7406"/>
                      <a:pt x="982" y="7406"/>
                    </a:cubicBezTo>
                    <a:close/>
                    <a:moveTo>
                      <a:pt x="5606" y="1990"/>
                    </a:moveTo>
                    <a:cubicBezTo>
                      <a:pt x="6148" y="980"/>
                      <a:pt x="7540" y="751"/>
                      <a:pt x="8714" y="1481"/>
                    </a:cubicBezTo>
                    <a:cubicBezTo>
                      <a:pt x="9465" y="1948"/>
                      <a:pt x="9931" y="2692"/>
                      <a:pt x="10035" y="3433"/>
                    </a:cubicBezTo>
                    <a:cubicBezTo>
                      <a:pt x="9944" y="3708"/>
                      <a:pt x="9845" y="3975"/>
                      <a:pt x="9740" y="4236"/>
                    </a:cubicBezTo>
                    <a:lnTo>
                      <a:pt x="5830" y="4236"/>
                    </a:lnTo>
                    <a:cubicBezTo>
                      <a:pt x="5362" y="3523"/>
                      <a:pt x="5242" y="2668"/>
                      <a:pt x="5606" y="1990"/>
                    </a:cubicBezTo>
                    <a:moveTo>
                      <a:pt x="20618" y="4236"/>
                    </a:moveTo>
                    <a:lnTo>
                      <a:pt x="16874" y="4236"/>
                    </a:lnTo>
                    <a:cubicBezTo>
                      <a:pt x="17259" y="3325"/>
                      <a:pt x="17284" y="2310"/>
                      <a:pt x="16829" y="1461"/>
                    </a:cubicBezTo>
                    <a:cubicBezTo>
                      <a:pt x="16015" y="-54"/>
                      <a:pt x="14024" y="-456"/>
                      <a:pt x="12380" y="565"/>
                    </a:cubicBezTo>
                    <a:cubicBezTo>
                      <a:pt x="11747" y="959"/>
                      <a:pt x="11277" y="1511"/>
                      <a:pt x="10965" y="2122"/>
                    </a:cubicBezTo>
                    <a:cubicBezTo>
                      <a:pt x="10949" y="2115"/>
                      <a:pt x="10937" y="2103"/>
                      <a:pt x="10920" y="2098"/>
                    </a:cubicBezTo>
                    <a:cubicBezTo>
                      <a:pt x="10909" y="2095"/>
                      <a:pt x="10899" y="2097"/>
                      <a:pt x="10888" y="2095"/>
                    </a:cubicBezTo>
                    <a:cubicBezTo>
                      <a:pt x="10861" y="2089"/>
                      <a:pt x="10834" y="2089"/>
                      <a:pt x="10806" y="2088"/>
                    </a:cubicBezTo>
                    <a:cubicBezTo>
                      <a:pt x="10782" y="2089"/>
                      <a:pt x="10759" y="2089"/>
                      <a:pt x="10735" y="2093"/>
                    </a:cubicBezTo>
                    <a:cubicBezTo>
                      <a:pt x="10712" y="2096"/>
                      <a:pt x="10689" y="2090"/>
                      <a:pt x="10665" y="2098"/>
                    </a:cubicBezTo>
                    <a:cubicBezTo>
                      <a:pt x="10648" y="2103"/>
                      <a:pt x="10636" y="2115"/>
                      <a:pt x="10620" y="2122"/>
                    </a:cubicBezTo>
                    <a:cubicBezTo>
                      <a:pt x="10307" y="1511"/>
                      <a:pt x="9837" y="959"/>
                      <a:pt x="9205" y="566"/>
                    </a:cubicBezTo>
                    <a:cubicBezTo>
                      <a:pt x="7561" y="-456"/>
                      <a:pt x="5569" y="-54"/>
                      <a:pt x="4755" y="1461"/>
                    </a:cubicBezTo>
                    <a:cubicBezTo>
                      <a:pt x="4301" y="2310"/>
                      <a:pt x="4325" y="3325"/>
                      <a:pt x="4711" y="4236"/>
                    </a:cubicBezTo>
                    <a:lnTo>
                      <a:pt x="982" y="4236"/>
                    </a:lnTo>
                    <a:cubicBezTo>
                      <a:pt x="440" y="4236"/>
                      <a:pt x="0" y="4709"/>
                      <a:pt x="0" y="5293"/>
                    </a:cubicBezTo>
                    <a:lnTo>
                      <a:pt x="0" y="7406"/>
                    </a:lnTo>
                    <a:cubicBezTo>
                      <a:pt x="0" y="7990"/>
                      <a:pt x="440" y="8463"/>
                      <a:pt x="982" y="8463"/>
                    </a:cubicBezTo>
                    <a:lnTo>
                      <a:pt x="982" y="20087"/>
                    </a:lnTo>
                    <a:cubicBezTo>
                      <a:pt x="982" y="20671"/>
                      <a:pt x="1422" y="21144"/>
                      <a:pt x="1964" y="21144"/>
                    </a:cubicBezTo>
                    <a:lnTo>
                      <a:pt x="19636" y="21144"/>
                    </a:lnTo>
                    <a:cubicBezTo>
                      <a:pt x="20178" y="21144"/>
                      <a:pt x="20618" y="20671"/>
                      <a:pt x="20618" y="20087"/>
                    </a:cubicBezTo>
                    <a:lnTo>
                      <a:pt x="20618" y="8463"/>
                    </a:lnTo>
                    <a:cubicBezTo>
                      <a:pt x="21160" y="8463"/>
                      <a:pt x="21600" y="7990"/>
                      <a:pt x="21600" y="7406"/>
                    </a:cubicBezTo>
                    <a:lnTo>
                      <a:pt x="21600" y="5293"/>
                    </a:lnTo>
                    <a:cubicBezTo>
                      <a:pt x="21600" y="4709"/>
                      <a:pt x="21160" y="4236"/>
                      <a:pt x="20618" y="4236"/>
                    </a:cubicBezTo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r>
                  <a:t/>
                </a:r>
                <a:endParaRPr b="0" i="0" sz="1350" u="none" cap="none" strike="noStrik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168" name="Google Shape;168;p5"/>
            <p:cNvSpPr/>
            <p:nvPr/>
          </p:nvSpPr>
          <p:spPr>
            <a:xfrm>
              <a:off x="6833217" y="4473585"/>
              <a:ext cx="4951800" cy="690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just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b="0" i="0" lang="en-US" sz="1200" u="none" cap="none" strike="noStrike">
                  <a:solidFill>
                    <a:srgbClr val="3F3F3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管理端作業流程繁瑣，商品、庫存與訂單難以即時掌控</a:t>
              </a:r>
              <a:endParaRPr b="0" i="0" sz="1200" u="none" cap="none" strike="noStrike">
                <a:solidFill>
                  <a:srgbClr val="3F3F3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169" name="Google Shape;169;p5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2814611" y="3420134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1" name="Google Shape;171;p5"/>
          <p:cNvSpPr txBox="1"/>
          <p:nvPr>
            <p:ph type="title"/>
          </p:nvPr>
        </p:nvSpPr>
        <p:spPr>
          <a:xfrm>
            <a:off x="400050" y="-128341"/>
            <a:ext cx="7886700" cy="9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500"/>
              <a:buFont typeface="Microsoft JhengHei"/>
              <a:buNone/>
            </a:pPr>
            <a:r>
              <a:rPr b="1" lang="en-US" sz="25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專題起源</a:t>
            </a:r>
            <a:endParaRPr b="1" sz="25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grpSp>
        <p:nvGrpSpPr>
          <p:cNvPr id="172" name="Google Shape;172;p5"/>
          <p:cNvGrpSpPr/>
          <p:nvPr/>
        </p:nvGrpSpPr>
        <p:grpSpPr>
          <a:xfrm>
            <a:off x="4578735" y="1703091"/>
            <a:ext cx="4071803" cy="371011"/>
            <a:chOff x="6329844" y="3207472"/>
            <a:chExt cx="5429070" cy="494682"/>
          </a:xfrm>
        </p:grpSpPr>
        <p:grpSp>
          <p:nvGrpSpPr>
            <p:cNvPr id="173" name="Google Shape;173;p5"/>
            <p:cNvGrpSpPr/>
            <p:nvPr/>
          </p:nvGrpSpPr>
          <p:grpSpPr>
            <a:xfrm>
              <a:off x="6329844" y="3207472"/>
              <a:ext cx="494682" cy="494682"/>
              <a:chOff x="7214440" y="2889925"/>
              <a:chExt cx="413117" cy="413117"/>
            </a:xfrm>
          </p:grpSpPr>
          <p:sp>
            <p:nvSpPr>
              <p:cNvPr id="174" name="Google Shape;174;p5"/>
              <p:cNvSpPr/>
              <p:nvPr/>
            </p:nvSpPr>
            <p:spPr>
              <a:xfrm>
                <a:off x="7214440" y="2889925"/>
                <a:ext cx="413117" cy="41311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r>
                  <a:t/>
                </a:r>
                <a:endParaRPr b="0" i="0" sz="135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75" name="Google Shape;175;p5"/>
              <p:cNvSpPr/>
              <p:nvPr/>
            </p:nvSpPr>
            <p:spPr>
              <a:xfrm>
                <a:off x="7300764" y="2976259"/>
                <a:ext cx="240468" cy="240449"/>
              </a:xfrm>
              <a:custGeom>
                <a:rect b="b" l="l" r="r" t="t"/>
                <a:pathLst>
                  <a:path extrusionOk="0" h="21600" w="21600">
                    <a:moveTo>
                      <a:pt x="20618" y="19636"/>
                    </a:moveTo>
                    <a:cubicBezTo>
                      <a:pt x="20618" y="20179"/>
                      <a:pt x="20178" y="20619"/>
                      <a:pt x="19636" y="20619"/>
                    </a:cubicBezTo>
                    <a:lnTo>
                      <a:pt x="1964" y="20619"/>
                    </a:lnTo>
                    <a:cubicBezTo>
                      <a:pt x="1421" y="20619"/>
                      <a:pt x="982" y="20179"/>
                      <a:pt x="982" y="19636"/>
                    </a:cubicBezTo>
                    <a:lnTo>
                      <a:pt x="982" y="1964"/>
                    </a:lnTo>
                    <a:cubicBezTo>
                      <a:pt x="982" y="1422"/>
                      <a:pt x="1421" y="982"/>
                      <a:pt x="1964" y="982"/>
                    </a:cubicBezTo>
                    <a:lnTo>
                      <a:pt x="19636" y="982"/>
                    </a:lnTo>
                    <a:cubicBezTo>
                      <a:pt x="20178" y="982"/>
                      <a:pt x="20618" y="1422"/>
                      <a:pt x="20618" y="1964"/>
                    </a:cubicBezTo>
                    <a:cubicBezTo>
                      <a:pt x="20618" y="1964"/>
                      <a:pt x="20618" y="19636"/>
                      <a:pt x="20618" y="19636"/>
                    </a:cubicBezTo>
                    <a:close/>
                    <a:moveTo>
                      <a:pt x="19636" y="0"/>
                    </a:moveTo>
                    <a:lnTo>
                      <a:pt x="1964" y="0"/>
                    </a:lnTo>
                    <a:cubicBezTo>
                      <a:pt x="879" y="0"/>
                      <a:pt x="0" y="879"/>
                      <a:pt x="0" y="1964"/>
                    </a:cubicBezTo>
                    <a:lnTo>
                      <a:pt x="0" y="19636"/>
                    </a:lnTo>
                    <a:cubicBezTo>
                      <a:pt x="0" y="20721"/>
                      <a:pt x="879" y="21600"/>
                      <a:pt x="1964" y="21600"/>
                    </a:cubicBezTo>
                    <a:lnTo>
                      <a:pt x="19636" y="21600"/>
                    </a:lnTo>
                    <a:cubicBezTo>
                      <a:pt x="20721" y="21600"/>
                      <a:pt x="21600" y="20721"/>
                      <a:pt x="21600" y="19636"/>
                    </a:cubicBezTo>
                    <a:lnTo>
                      <a:pt x="21600" y="1964"/>
                    </a:lnTo>
                    <a:cubicBezTo>
                      <a:pt x="21600" y="879"/>
                      <a:pt x="20721" y="0"/>
                      <a:pt x="19636" y="0"/>
                    </a:cubicBezTo>
                    <a:moveTo>
                      <a:pt x="4294" y="17673"/>
                    </a:moveTo>
                    <a:lnTo>
                      <a:pt x="8376" y="10732"/>
                    </a:lnTo>
                    <a:lnTo>
                      <a:pt x="10838" y="14425"/>
                    </a:lnTo>
                    <a:cubicBezTo>
                      <a:pt x="10862" y="14484"/>
                      <a:pt x="10898" y="14536"/>
                      <a:pt x="10942" y="14581"/>
                    </a:cubicBezTo>
                    <a:lnTo>
                      <a:pt x="10944" y="14583"/>
                    </a:lnTo>
                    <a:cubicBezTo>
                      <a:pt x="11033" y="14673"/>
                      <a:pt x="11155" y="14727"/>
                      <a:pt x="11291" y="14727"/>
                    </a:cubicBezTo>
                    <a:cubicBezTo>
                      <a:pt x="11427" y="14727"/>
                      <a:pt x="11549" y="14673"/>
                      <a:pt x="11638" y="14583"/>
                    </a:cubicBezTo>
                    <a:lnTo>
                      <a:pt x="13686" y="12536"/>
                    </a:lnTo>
                    <a:lnTo>
                      <a:pt x="17242" y="17673"/>
                    </a:lnTo>
                    <a:cubicBezTo>
                      <a:pt x="17242" y="17673"/>
                      <a:pt x="4294" y="17673"/>
                      <a:pt x="4294" y="17673"/>
                    </a:cubicBezTo>
                    <a:close/>
                    <a:moveTo>
                      <a:pt x="18620" y="17982"/>
                    </a:moveTo>
                    <a:lnTo>
                      <a:pt x="18617" y="17978"/>
                    </a:lnTo>
                    <a:cubicBezTo>
                      <a:pt x="18590" y="17913"/>
                      <a:pt x="18551" y="17858"/>
                      <a:pt x="18501" y="17810"/>
                    </a:cubicBezTo>
                    <a:lnTo>
                      <a:pt x="14201" y="11600"/>
                    </a:lnTo>
                    <a:lnTo>
                      <a:pt x="14200" y="11601"/>
                    </a:lnTo>
                    <a:cubicBezTo>
                      <a:pt x="14127" y="11420"/>
                      <a:pt x="13952" y="11291"/>
                      <a:pt x="13745" y="11291"/>
                    </a:cubicBezTo>
                    <a:cubicBezTo>
                      <a:pt x="13610" y="11291"/>
                      <a:pt x="13488" y="11346"/>
                      <a:pt x="13398" y="11435"/>
                    </a:cubicBezTo>
                    <a:lnTo>
                      <a:pt x="11360" y="13473"/>
                    </a:lnTo>
                    <a:lnTo>
                      <a:pt x="8798" y="9630"/>
                    </a:lnTo>
                    <a:cubicBezTo>
                      <a:pt x="8724" y="9453"/>
                      <a:pt x="8550" y="9327"/>
                      <a:pt x="8345" y="9327"/>
                    </a:cubicBezTo>
                    <a:cubicBezTo>
                      <a:pt x="8175" y="9327"/>
                      <a:pt x="8033" y="9420"/>
                      <a:pt x="7945" y="9551"/>
                    </a:cubicBezTo>
                    <a:lnTo>
                      <a:pt x="7937" y="9546"/>
                    </a:lnTo>
                    <a:lnTo>
                      <a:pt x="3028" y="17891"/>
                    </a:lnTo>
                    <a:lnTo>
                      <a:pt x="3036" y="17897"/>
                    </a:lnTo>
                    <a:cubicBezTo>
                      <a:pt x="2983" y="17974"/>
                      <a:pt x="2945" y="18063"/>
                      <a:pt x="2945" y="18164"/>
                    </a:cubicBezTo>
                    <a:cubicBezTo>
                      <a:pt x="2945" y="18435"/>
                      <a:pt x="3165" y="18655"/>
                      <a:pt x="3436" y="18655"/>
                    </a:cubicBezTo>
                    <a:lnTo>
                      <a:pt x="18164" y="18655"/>
                    </a:lnTo>
                    <a:cubicBezTo>
                      <a:pt x="18435" y="18655"/>
                      <a:pt x="18655" y="18435"/>
                      <a:pt x="18655" y="18164"/>
                    </a:cubicBezTo>
                    <a:cubicBezTo>
                      <a:pt x="18655" y="18099"/>
                      <a:pt x="18640" y="18039"/>
                      <a:pt x="18618" y="17983"/>
                    </a:cubicBezTo>
                    <a:cubicBezTo>
                      <a:pt x="18618" y="17983"/>
                      <a:pt x="18620" y="17982"/>
                      <a:pt x="18620" y="17982"/>
                    </a:cubicBezTo>
                    <a:close/>
                    <a:moveTo>
                      <a:pt x="5400" y="3927"/>
                    </a:moveTo>
                    <a:cubicBezTo>
                      <a:pt x="6213" y="3927"/>
                      <a:pt x="6873" y="4587"/>
                      <a:pt x="6873" y="5400"/>
                    </a:cubicBezTo>
                    <a:cubicBezTo>
                      <a:pt x="6873" y="6214"/>
                      <a:pt x="6213" y="6873"/>
                      <a:pt x="5400" y="6873"/>
                    </a:cubicBezTo>
                    <a:cubicBezTo>
                      <a:pt x="4587" y="6873"/>
                      <a:pt x="3927" y="6214"/>
                      <a:pt x="3927" y="5400"/>
                    </a:cubicBezTo>
                    <a:cubicBezTo>
                      <a:pt x="3927" y="4587"/>
                      <a:pt x="4587" y="3927"/>
                      <a:pt x="5400" y="3927"/>
                    </a:cubicBezTo>
                    <a:moveTo>
                      <a:pt x="5400" y="7855"/>
                    </a:moveTo>
                    <a:cubicBezTo>
                      <a:pt x="6756" y="7855"/>
                      <a:pt x="7855" y="6756"/>
                      <a:pt x="7855" y="5400"/>
                    </a:cubicBezTo>
                    <a:cubicBezTo>
                      <a:pt x="7855" y="4045"/>
                      <a:pt x="6756" y="2945"/>
                      <a:pt x="5400" y="2945"/>
                    </a:cubicBezTo>
                    <a:cubicBezTo>
                      <a:pt x="4044" y="2945"/>
                      <a:pt x="2945" y="4045"/>
                      <a:pt x="2945" y="5400"/>
                    </a:cubicBezTo>
                    <a:cubicBezTo>
                      <a:pt x="2945" y="6756"/>
                      <a:pt x="4044" y="7855"/>
                      <a:pt x="5400" y="7855"/>
                    </a:cubicBezTo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r>
                  <a:t/>
                </a:r>
                <a:endParaRPr b="0" i="0" sz="1350" u="none" cap="none" strike="noStrik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176" name="Google Shape;176;p5"/>
            <p:cNvSpPr/>
            <p:nvPr/>
          </p:nvSpPr>
          <p:spPr>
            <a:xfrm>
              <a:off x="6824515" y="3273684"/>
              <a:ext cx="4934399" cy="41852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just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-US" sz="1200" u="none" cap="none" strike="noStrike">
                  <a:solidFill>
                    <a:srgbClr val="3F3F3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rPr>
                <a:t>商品種類與資訊繁雜，使用者難以快速定位合適產品</a:t>
              </a:r>
              <a:endParaRPr b="0" i="0" sz="12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endParaRPr>
            </a:p>
          </p:txBody>
        </p:sp>
      </p:grpSp>
      <p:sp>
        <p:nvSpPr>
          <p:cNvPr id="177" name="Google Shape;177;p5"/>
          <p:cNvSpPr/>
          <p:nvPr/>
        </p:nvSpPr>
        <p:spPr>
          <a:xfrm>
            <a:off x="4632275" y="3597013"/>
            <a:ext cx="3700800" cy="12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基於以上幾點，我們希望打造一個：</a:t>
            </a:r>
            <a:endParaRPr b="1" i="0" sz="12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商品比較、補貨提醒、主題性文章等功能整合購物的電商平台，讓使用者不只買到適合的產品，更能持續維持健康習慣。</a:t>
            </a:r>
            <a:endParaRPr b="0" i="0" sz="1300" u="none" cap="none" strike="noStrike">
              <a:solidFill>
                <a:srgbClr val="3F3F3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78" name="Google Shape;17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0412" y="672488"/>
            <a:ext cx="3700800" cy="39137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" name="Google Shape;184;p25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185" name="Google Shape;185;p25"/>
            <p:cNvSpPr/>
            <p:nvPr/>
          </p:nvSpPr>
          <p:spPr>
            <a:xfrm>
              <a:off x="267904" y="-25298"/>
              <a:ext cx="4269658" cy="516879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86" name="Google Shape;186;p25"/>
            <p:cNvSpPr/>
            <p:nvPr/>
          </p:nvSpPr>
          <p:spPr>
            <a:xfrm>
              <a:off x="-58652" y="-27977"/>
              <a:ext cx="4269658" cy="517147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187" name="Google Shape;187;p25"/>
          <p:cNvSpPr txBox="1"/>
          <p:nvPr/>
        </p:nvSpPr>
        <p:spPr>
          <a:xfrm>
            <a:off x="990600" y="2175974"/>
            <a:ext cx="1014900" cy="6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02</a:t>
            </a:r>
            <a:endParaRPr b="1" i="0" sz="51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8" name="Google Shape;188;p25"/>
          <p:cNvSpPr txBox="1"/>
          <p:nvPr/>
        </p:nvSpPr>
        <p:spPr>
          <a:xfrm>
            <a:off x="3581400" y="2114550"/>
            <a:ext cx="4724400" cy="5847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32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網站地圖</a:t>
            </a:r>
            <a:endParaRPr b="1" i="0" sz="3200" u="none" cap="none" strike="noStrik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788067" y="-708659"/>
            <a:ext cx="11298725" cy="585216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7"/>
          <p:cNvSpPr txBox="1"/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400"/>
              <a:buFont typeface="Microsoft JhengHei"/>
              <a:buNone/>
            </a:pPr>
            <a:r>
              <a:rPr b="1" lang="en-US" sz="25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網站地圖</a:t>
            </a:r>
            <a:br>
              <a:rPr b="1" lang="en-US" sz="25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b="1" lang="en-US" sz="25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使用者地圖</a:t>
            </a:r>
            <a:endParaRPr b="1" sz="25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365050" y="-505050"/>
            <a:ext cx="9509049" cy="572475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8"/>
          <p:cNvSpPr txBox="1"/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網站地圖</a:t>
            </a:r>
            <a:b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</a:t>
            </a:r>
            <a:r>
              <a:rPr b="1" lang="en-US" sz="27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員</a:t>
            </a: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地圖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03" name="Google Shape;203;p8"/>
          <p:cNvSpPr txBox="1"/>
          <p:nvPr/>
        </p:nvSpPr>
        <p:spPr>
          <a:xfrm>
            <a:off x="4095900" y="1894550"/>
            <a:ext cx="4344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4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210" name="Google Shape;210;p4"/>
            <p:cNvSpPr/>
            <p:nvPr/>
          </p:nvSpPr>
          <p:spPr>
            <a:xfrm>
              <a:off x="267904" y="-25298"/>
              <a:ext cx="4269658" cy="516879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11" name="Google Shape;211;p4"/>
            <p:cNvSpPr/>
            <p:nvPr/>
          </p:nvSpPr>
          <p:spPr>
            <a:xfrm>
              <a:off x="-58652" y="-27977"/>
              <a:ext cx="4269658" cy="517147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212" name="Google Shape;212;p4"/>
          <p:cNvSpPr txBox="1"/>
          <p:nvPr/>
        </p:nvSpPr>
        <p:spPr>
          <a:xfrm>
            <a:off x="984662" y="2193787"/>
            <a:ext cx="1016330" cy="6416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4"/>
          <p:cNvSpPr txBox="1"/>
          <p:nvPr/>
        </p:nvSpPr>
        <p:spPr>
          <a:xfrm>
            <a:off x="3581400" y="2114550"/>
            <a:ext cx="4724400" cy="5847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32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組員分工</a:t>
            </a:r>
            <a:endParaRPr b="1" i="0" sz="3200" u="none" cap="none" strike="noStrik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3"/>
          <p:cNvSpPr txBox="1"/>
          <p:nvPr>
            <p:ph idx="4294967295" type="ftr"/>
          </p:nvPr>
        </p:nvSpPr>
        <p:spPr>
          <a:xfrm>
            <a:off x="0" y="4884738"/>
            <a:ext cx="3086100" cy="19843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/>
          </a:p>
        </p:txBody>
      </p:sp>
      <p:sp>
        <p:nvSpPr>
          <p:cNvPr id="220" name="Google Shape;220;p43"/>
          <p:cNvSpPr txBox="1"/>
          <p:nvPr>
            <p:ph idx="4294967295" type="sldNum"/>
          </p:nvPr>
        </p:nvSpPr>
        <p:spPr>
          <a:xfrm>
            <a:off x="0" y="4884738"/>
            <a:ext cx="254000" cy="19843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1" name="Google Shape;221;p43"/>
          <p:cNvSpPr/>
          <p:nvPr/>
        </p:nvSpPr>
        <p:spPr>
          <a:xfrm rot="5400000">
            <a:off x="4518863" y="-1696326"/>
            <a:ext cx="163500" cy="8715300"/>
          </a:xfrm>
          <a:prstGeom prst="can">
            <a:avLst>
              <a:gd fmla="val 25000" name="adj"/>
            </a:avLst>
          </a:prstGeom>
          <a:solidFill>
            <a:srgbClr val="F2F2F2"/>
          </a:solidFill>
          <a:ln cap="flat" cmpd="sng" w="12700">
            <a:solidFill>
              <a:srgbClr val="D8D8D8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1" i="0" sz="135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2" name="Google Shape;222;p43"/>
          <p:cNvSpPr/>
          <p:nvPr/>
        </p:nvSpPr>
        <p:spPr>
          <a:xfrm rot="5400000">
            <a:off x="3748787" y="1365136"/>
            <a:ext cx="1214400" cy="1214400"/>
          </a:xfrm>
          <a:prstGeom prst="teardrop">
            <a:avLst>
              <a:gd fmla="val 100000" name="adj"/>
            </a:avLst>
          </a:prstGeom>
          <a:solidFill>
            <a:srgbClr val="A6BCC1"/>
          </a:solidFill>
          <a:ln cap="flat" cmpd="sng" w="12700">
            <a:solidFill>
              <a:srgbClr val="D8D8D8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3" name="Google Shape;223;p43"/>
          <p:cNvSpPr/>
          <p:nvPr/>
        </p:nvSpPr>
        <p:spPr>
          <a:xfrm>
            <a:off x="1176352" y="2743125"/>
            <a:ext cx="805500" cy="510600"/>
          </a:xfrm>
          <a:prstGeom prst="teardrop">
            <a:avLst>
              <a:gd fmla="val 100000" name="adj"/>
            </a:avLst>
          </a:prstGeom>
          <a:solidFill>
            <a:schemeClr val="accent2"/>
          </a:solidFill>
          <a:ln cap="flat" cmpd="sng" w="12700">
            <a:solidFill>
              <a:srgbClr val="D8D8D8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200" u="none" cap="none" strike="noStrik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商品</a:t>
            </a:r>
            <a:endParaRPr b="1" i="0" sz="1200" u="none" cap="none" strike="noStrik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1137850" y="3252061"/>
            <a:ext cx="492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595959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負責</a:t>
            </a:r>
            <a:endParaRPr b="1" i="0" sz="1200" u="none" cap="none" strike="noStrik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25" name="Google Shape;225;p43"/>
          <p:cNvSpPr/>
          <p:nvPr/>
        </p:nvSpPr>
        <p:spPr>
          <a:xfrm>
            <a:off x="1038156" y="3491986"/>
            <a:ext cx="1277100" cy="4616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使用者首頁、商品資訊</a:t>
            </a:r>
            <a:endParaRPr b="0" i="0" sz="1200" u="none" cap="none" strike="noStrik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26" name="Google Shape;226;p43"/>
          <p:cNvSpPr/>
          <p:nvPr/>
        </p:nvSpPr>
        <p:spPr>
          <a:xfrm>
            <a:off x="4143650" y="2741325"/>
            <a:ext cx="805500" cy="510600"/>
          </a:xfrm>
          <a:prstGeom prst="teardrop">
            <a:avLst>
              <a:gd fmla="val 100000" name="adj"/>
            </a:avLst>
          </a:prstGeom>
          <a:solidFill>
            <a:schemeClr val="accent4"/>
          </a:solidFill>
          <a:ln cap="flat" cmpd="sng" w="12700">
            <a:solidFill>
              <a:srgbClr val="D8D8D8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</a:t>
            </a:r>
            <a:endParaRPr b="1" i="0" sz="1350" u="none" cap="none" strike="noStrik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27" name="Google Shape;227;p43"/>
          <p:cNvSpPr txBox="1"/>
          <p:nvPr/>
        </p:nvSpPr>
        <p:spPr>
          <a:xfrm>
            <a:off x="4105065" y="3250187"/>
            <a:ext cx="492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595959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負責</a:t>
            </a:r>
            <a:endParaRPr b="1" i="0" sz="1200" u="none" cap="none" strike="noStrik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28" name="Google Shape;228;p43"/>
          <p:cNvSpPr/>
          <p:nvPr/>
        </p:nvSpPr>
        <p:spPr>
          <a:xfrm>
            <a:off x="3964339" y="3514088"/>
            <a:ext cx="1603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1.使用者登入與註冊</a:t>
            </a:r>
            <a:br>
              <a:rPr b="0" i="0" lang="en-US" sz="12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b="0" i="0" lang="en-US" sz="12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2.後台會員管理</a:t>
            </a:r>
            <a:br>
              <a:rPr b="0" i="0" lang="en-US" sz="12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b="0" i="0" lang="en-US" sz="12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3.後台管理員登入</a:t>
            </a:r>
            <a:endParaRPr b="0" i="0" sz="1200" u="none" cap="none" strike="noStrik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29" name="Google Shape;229;p43"/>
          <p:cNvSpPr/>
          <p:nvPr/>
        </p:nvSpPr>
        <p:spPr>
          <a:xfrm>
            <a:off x="5522254" y="2733585"/>
            <a:ext cx="992846" cy="510600"/>
          </a:xfrm>
          <a:prstGeom prst="teardrop">
            <a:avLst>
              <a:gd fmla="val 100000" name="adj"/>
            </a:avLst>
          </a:prstGeom>
          <a:solidFill>
            <a:srgbClr val="7FA99B"/>
          </a:solidFill>
          <a:ln cap="flat" cmpd="sng" w="12700">
            <a:solidFill>
              <a:srgbClr val="D8D8D8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購物車</a:t>
            </a:r>
            <a:endParaRPr b="1" i="0" sz="1350" u="none" cap="none" strike="noStrik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0" name="Google Shape;230;p43"/>
          <p:cNvSpPr txBox="1"/>
          <p:nvPr/>
        </p:nvSpPr>
        <p:spPr>
          <a:xfrm>
            <a:off x="5588672" y="3248314"/>
            <a:ext cx="492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595959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負責</a:t>
            </a:r>
            <a:endParaRPr b="1" i="0" sz="1200" u="none" cap="none" strike="noStrik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1" name="Google Shape;231;p43"/>
          <p:cNvSpPr/>
          <p:nvPr/>
        </p:nvSpPr>
        <p:spPr>
          <a:xfrm>
            <a:off x="5488977" y="3488239"/>
            <a:ext cx="1339800" cy="276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使用者購物車</a:t>
            </a:r>
            <a:endParaRPr b="0" i="0" sz="1200" u="none" cap="none" strike="noStrik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2" name="Google Shape;232;p43"/>
          <p:cNvSpPr/>
          <p:nvPr/>
        </p:nvSpPr>
        <p:spPr>
          <a:xfrm>
            <a:off x="7139012" y="2727688"/>
            <a:ext cx="805500" cy="510600"/>
          </a:xfrm>
          <a:prstGeom prst="teardrop">
            <a:avLst>
              <a:gd fmla="val 100000" name="adj"/>
            </a:avLst>
          </a:prstGeom>
          <a:solidFill>
            <a:schemeClr val="accent2"/>
          </a:solidFill>
          <a:ln cap="flat" cmpd="sng" w="12700">
            <a:solidFill>
              <a:srgbClr val="D8D8D8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</a:t>
            </a:r>
            <a:endParaRPr b="1" i="0" sz="1350" u="none" cap="none" strike="noStrik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3" name="Google Shape;233;p43"/>
          <p:cNvSpPr txBox="1"/>
          <p:nvPr/>
        </p:nvSpPr>
        <p:spPr>
          <a:xfrm>
            <a:off x="7072279" y="3252061"/>
            <a:ext cx="492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595959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負責</a:t>
            </a:r>
            <a:endParaRPr b="1" i="0" sz="1200" u="none" cap="none" strike="noStrik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rgbClr val="595959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4" name="Google Shape;234;p43"/>
          <p:cNvSpPr/>
          <p:nvPr/>
        </p:nvSpPr>
        <p:spPr>
          <a:xfrm>
            <a:off x="6972574" y="3491975"/>
            <a:ext cx="1385400" cy="4616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使用者結帳</a:t>
            </a:r>
            <a:br>
              <a:rPr b="0" i="0" lang="en-US" sz="12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endParaRPr b="0" i="0" sz="1200" u="none" cap="none" strike="noStrik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5" name="Google Shape;235;p43"/>
          <p:cNvSpPr txBox="1"/>
          <p:nvPr/>
        </p:nvSpPr>
        <p:spPr>
          <a:xfrm>
            <a:off x="3798756" y="1757876"/>
            <a:ext cx="11982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劉森豪</a:t>
            </a:r>
            <a:endParaRPr b="0" i="0" sz="1350" u="none" cap="none" strike="noStrik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6" name="Google Shape;236;p43"/>
          <p:cNvSpPr txBox="1"/>
          <p:nvPr/>
        </p:nvSpPr>
        <p:spPr>
          <a:xfrm>
            <a:off x="2284157" y="227634"/>
            <a:ext cx="4575686" cy="4770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-US" sz="2500" u="none" cap="none" strike="noStrik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組員分工</a:t>
            </a:r>
            <a:endParaRPr b="0" i="0" sz="1400" u="none" cap="none" strike="noStrike">
              <a:solidFill>
                <a:srgbClr val="000000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7" name="Google Shape;237;p43"/>
          <p:cNvSpPr/>
          <p:nvPr/>
        </p:nvSpPr>
        <p:spPr>
          <a:xfrm rot="5400000">
            <a:off x="767452" y="1365123"/>
            <a:ext cx="1214400" cy="1214400"/>
          </a:xfrm>
          <a:prstGeom prst="teardrop">
            <a:avLst>
              <a:gd fmla="val 100000" name="adj"/>
            </a:avLst>
          </a:prstGeom>
          <a:solidFill>
            <a:srgbClr val="A6BCC1"/>
          </a:solidFill>
          <a:ln cap="flat" cmpd="sng" w="12700">
            <a:solidFill>
              <a:srgbClr val="D8D8D8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38" name="Google Shape;238;p43"/>
          <p:cNvSpPr txBox="1"/>
          <p:nvPr/>
        </p:nvSpPr>
        <p:spPr>
          <a:xfrm>
            <a:off x="817421" y="1757863"/>
            <a:ext cx="11982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簡懷恩</a:t>
            </a:r>
            <a:endParaRPr b="0" i="0" sz="1350" u="none" cap="none" strike="noStrik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239" name="Google Shape;239;p43"/>
          <p:cNvSpPr/>
          <p:nvPr/>
        </p:nvSpPr>
        <p:spPr>
          <a:xfrm rot="5400000">
            <a:off x="6696353" y="1365149"/>
            <a:ext cx="1214400" cy="1214400"/>
          </a:xfrm>
          <a:prstGeom prst="teardrop">
            <a:avLst>
              <a:gd fmla="val 100000" name="adj"/>
            </a:avLst>
          </a:prstGeom>
          <a:solidFill>
            <a:srgbClr val="A6BCC1"/>
          </a:solidFill>
          <a:ln cap="flat" cmpd="sng" w="12700">
            <a:solidFill>
              <a:srgbClr val="D8D8D8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0" name="Google Shape;240;p43"/>
          <p:cNvSpPr txBox="1"/>
          <p:nvPr/>
        </p:nvSpPr>
        <p:spPr>
          <a:xfrm>
            <a:off x="6746322" y="1757889"/>
            <a:ext cx="11982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chemeClr val="l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宋柏毅</a:t>
            </a:r>
            <a:endParaRPr b="0" i="0" sz="1350" u="none" cap="none" strike="noStrike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6" name="Google Shape;246;g3b22b6f32d6_1_20"/>
          <p:cNvGrpSpPr/>
          <p:nvPr/>
        </p:nvGrpSpPr>
        <p:grpSpPr>
          <a:xfrm>
            <a:off x="-58652" y="-27977"/>
            <a:ext cx="2878149" cy="5177790"/>
            <a:chOff x="-58652" y="-27977"/>
            <a:chExt cx="4596214" cy="5177790"/>
          </a:xfrm>
        </p:grpSpPr>
        <p:sp>
          <p:nvSpPr>
            <p:cNvPr id="247" name="Google Shape;247;g3b22b6f32d6_1_20"/>
            <p:cNvSpPr/>
            <p:nvPr/>
          </p:nvSpPr>
          <p:spPr>
            <a:xfrm>
              <a:off x="267904" y="-25298"/>
              <a:ext cx="4269658" cy="5160645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48" name="Google Shape;248;g3b22b6f32d6_1_20"/>
            <p:cNvSpPr/>
            <p:nvPr/>
          </p:nvSpPr>
          <p:spPr>
            <a:xfrm>
              <a:off x="-58652" y="-27977"/>
              <a:ext cx="4269658" cy="5177790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249" name="Google Shape;249;g3b22b6f32d6_1_20"/>
          <p:cNvSpPr txBox="1"/>
          <p:nvPr/>
        </p:nvSpPr>
        <p:spPr>
          <a:xfrm>
            <a:off x="990600" y="2175975"/>
            <a:ext cx="1140300" cy="6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04</a:t>
            </a:r>
            <a:endParaRPr b="1" i="0" sz="51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0" name="Google Shape;250;g3b22b6f32d6_1_20"/>
          <p:cNvSpPr txBox="1"/>
          <p:nvPr/>
        </p:nvSpPr>
        <p:spPr>
          <a:xfrm>
            <a:off x="3581400" y="2114550"/>
            <a:ext cx="4724400" cy="5847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32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b="1" i="0" sz="3200" u="none" cap="none" strike="noStrik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7618" y="0"/>
            <a:ext cx="8548763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1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8" name="Google Shape;258;p41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9" name="Google Shape;259;p41"/>
          <p:cNvSpPr txBox="1"/>
          <p:nvPr/>
        </p:nvSpPr>
        <p:spPr>
          <a:xfrm>
            <a:off x="2814611" y="3420134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60" name="Google Shape;260;p41"/>
          <p:cNvSpPr txBox="1"/>
          <p:nvPr>
            <p:ph type="title"/>
          </p:nvPr>
        </p:nvSpPr>
        <p:spPr>
          <a:xfrm>
            <a:off x="133225" y="259283"/>
            <a:ext cx="1850920" cy="26897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Google Shape;266;p9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267" name="Google Shape;267;p9"/>
            <p:cNvSpPr/>
            <p:nvPr/>
          </p:nvSpPr>
          <p:spPr>
            <a:xfrm>
              <a:off x="267904" y="-25298"/>
              <a:ext cx="4269658" cy="516879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268" name="Google Shape;268;p9"/>
            <p:cNvSpPr/>
            <p:nvPr/>
          </p:nvSpPr>
          <p:spPr>
            <a:xfrm>
              <a:off x="-58652" y="-27977"/>
              <a:ext cx="4269658" cy="517147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269" name="Google Shape;269;p9"/>
          <p:cNvSpPr txBox="1"/>
          <p:nvPr/>
        </p:nvSpPr>
        <p:spPr>
          <a:xfrm>
            <a:off x="990600" y="2175974"/>
            <a:ext cx="1117270" cy="6416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9"/>
          <p:cNvSpPr txBox="1"/>
          <p:nvPr/>
        </p:nvSpPr>
        <p:spPr>
          <a:xfrm>
            <a:off x="3581400" y="2114550"/>
            <a:ext cx="5140800" cy="5847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商品功能流程與ER MODEL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0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7" name="Google Shape;277;p10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8" name="Google Shape;278;p10"/>
          <p:cNvSpPr txBox="1"/>
          <p:nvPr/>
        </p:nvSpPr>
        <p:spPr>
          <a:xfrm>
            <a:off x="2810857" y="3443885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9" name="Google Shape;279;p10"/>
          <p:cNvSpPr txBox="1"/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商品功能流程圖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280" name="Google Shape;28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94850" y="55263"/>
            <a:ext cx="4262249" cy="5032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g3aad698f54b_3_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32015" y="730155"/>
            <a:ext cx="7076368" cy="4279994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g3aad698f54b_3_8"/>
          <p:cNvSpPr txBox="1"/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首頁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b1340780fc_2_4"/>
          <p:cNvSpPr txBox="1"/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商品功能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294" name="Google Shape;294;g3b1340780fc_2_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52268" y="811191"/>
            <a:ext cx="6639463" cy="42777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93"/>
          <p:cNvSpPr txBox="1"/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商品功能</a:t>
            </a:r>
            <a:b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01" name="Google Shape;301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14157" y="91350"/>
            <a:ext cx="4671180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7" name="Google Shape;307;p100"/>
          <p:cNvGrpSpPr/>
          <p:nvPr/>
        </p:nvGrpSpPr>
        <p:grpSpPr>
          <a:xfrm>
            <a:off x="-76464" y="-27977"/>
            <a:ext cx="2878052" cy="5171477"/>
            <a:chOff x="-58652" y="-27977"/>
            <a:chExt cx="4596214" cy="5171477"/>
          </a:xfrm>
        </p:grpSpPr>
        <p:sp>
          <p:nvSpPr>
            <p:cNvPr id="308" name="Google Shape;308;p100"/>
            <p:cNvSpPr/>
            <p:nvPr/>
          </p:nvSpPr>
          <p:spPr>
            <a:xfrm>
              <a:off x="267904" y="-25298"/>
              <a:ext cx="4269658" cy="516879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309" name="Google Shape;309;p100"/>
            <p:cNvSpPr/>
            <p:nvPr/>
          </p:nvSpPr>
          <p:spPr>
            <a:xfrm>
              <a:off x="-58652" y="-27977"/>
              <a:ext cx="4269658" cy="517147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310" name="Google Shape;310;p100"/>
          <p:cNvSpPr txBox="1"/>
          <p:nvPr/>
        </p:nvSpPr>
        <p:spPr>
          <a:xfrm>
            <a:off x="990600" y="2175974"/>
            <a:ext cx="1079100" cy="6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06</a:t>
            </a:r>
            <a:endParaRPr b="1" i="0" sz="51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1" name="Google Shape;311;p100"/>
          <p:cNvSpPr txBox="1"/>
          <p:nvPr/>
        </p:nvSpPr>
        <p:spPr>
          <a:xfrm>
            <a:off x="3372472" y="2019172"/>
            <a:ext cx="5771528" cy="10771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會員功能流程、後台會員管理與ER MODEL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11" title="登入註冊流程圖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67629" y="76200"/>
            <a:ext cx="6396971" cy="49911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11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19" name="Google Shape;319;p11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0" name="Google Shape;320;p11"/>
          <p:cNvSpPr txBox="1"/>
          <p:nvPr/>
        </p:nvSpPr>
        <p:spPr>
          <a:xfrm>
            <a:off x="2814611" y="3420134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1" name="Google Shape;321;p11"/>
          <p:cNvSpPr txBox="1"/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會員註冊/登入功能流程圖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101"/>
          <p:cNvSpPr txBox="1"/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會員註冊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28" name="Google Shape;328;p1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3331" y="813806"/>
            <a:ext cx="7915701" cy="43296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b13c246361_1_0"/>
          <p:cNvSpPr txBox="1"/>
          <p:nvPr>
            <p:ph type="title"/>
          </p:nvPr>
        </p:nvSpPr>
        <p:spPr>
          <a:xfrm>
            <a:off x="64401" y="133350"/>
            <a:ext cx="34281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會員註冊輸入驗證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35" name="Google Shape;335;g3b13c246361_1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83853" y="832319"/>
            <a:ext cx="5576293" cy="4177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Google Shape;341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8864" y="745002"/>
            <a:ext cx="7956645" cy="4265147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102"/>
          <p:cNvSpPr txBox="1"/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會員登入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b13c246361_1_7"/>
          <p:cNvSpPr txBox="1"/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會員登入驗證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49" name="Google Shape;349;g3b13c246361_1_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9396" y="1056960"/>
            <a:ext cx="7185207" cy="3711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b13c246361_1_44"/>
          <p:cNvSpPr txBox="1"/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會員忘記密碼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56" name="Google Shape;356;g3b13c246361_1_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392" y="1426643"/>
            <a:ext cx="4507608" cy="3013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g3b13c246361_1_4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12638" y="1426643"/>
            <a:ext cx="4366970" cy="30139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2"/>
          <p:cNvSpPr txBox="1"/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會員查看資訊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64" name="Google Shape;364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4055" y="968251"/>
            <a:ext cx="8115890" cy="3801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2"/>
          <p:cNvSpPr txBox="1"/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會員更改密碼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71" name="Google Shape;37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6192" y="745071"/>
            <a:ext cx="5958025" cy="4419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6"/>
          <p:cNvSpPr txBox="1"/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會員停用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78" name="Google Shape;37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8867" y="885645"/>
            <a:ext cx="4566265" cy="3900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7"/>
          <p:cNvSpPr txBox="1"/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會員查看訂單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85" name="Google Shape;3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023" y="720553"/>
            <a:ext cx="7439954" cy="439864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03"/>
          <p:cNvSpPr txBox="1"/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會員功能</a:t>
            </a:r>
            <a:b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392" name="Google Shape;392;p103" title="會員註冊登入ermodel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120695"/>
            <a:ext cx="8458424" cy="3870405"/>
          </a:xfrm>
          <a:prstGeom prst="rect">
            <a:avLst/>
          </a:prstGeom>
          <a:noFill/>
          <a:ln>
            <a:noFill/>
          </a:ln>
        </p:spPr>
      </p:pic>
      <p:sp>
        <p:nvSpPr>
          <p:cNvPr id="393" name="Google Shape;393;p103"/>
          <p:cNvSpPr txBox="1"/>
          <p:nvPr/>
        </p:nvSpPr>
        <p:spPr>
          <a:xfrm>
            <a:off x="4876425" y="1318275"/>
            <a:ext cx="2044800" cy="1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member</a:t>
            </a:r>
            <a:endParaRPr b="1" sz="7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" name="Google Shape;399;g3b22b6f32d6_1_43" title="後台管理員登入功能流程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9441" y="152400"/>
            <a:ext cx="7932158" cy="4991100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g3b22b6f32d6_1_43"/>
          <p:cNvSpPr txBox="1"/>
          <p:nvPr/>
        </p:nvSpPr>
        <p:spPr>
          <a:xfrm>
            <a:off x="3128132" y="3036702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1" name="Google Shape;401;g3b22b6f32d6_1_43"/>
          <p:cNvSpPr txBox="1"/>
          <p:nvPr/>
        </p:nvSpPr>
        <p:spPr>
          <a:xfrm>
            <a:off x="2567628" y="2750182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2" name="Google Shape;402;g3b22b6f32d6_1_43"/>
          <p:cNvSpPr txBox="1"/>
          <p:nvPr/>
        </p:nvSpPr>
        <p:spPr>
          <a:xfrm>
            <a:off x="2814611" y="3420134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3" name="Google Shape;403;g3b22b6f32d6_1_43"/>
          <p:cNvSpPr txBox="1"/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後台管理員登入功能流程圖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b13c246361_1_38"/>
          <p:cNvSpPr txBox="1"/>
          <p:nvPr>
            <p:ph type="title"/>
          </p:nvPr>
        </p:nvSpPr>
        <p:spPr>
          <a:xfrm>
            <a:off x="173574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後台管理員登入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10" name="Google Shape;410;g3b13c246361_1_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5389" y="807522"/>
            <a:ext cx="6533221" cy="4335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104"/>
          <p:cNvSpPr txBox="1"/>
          <p:nvPr>
            <p:ph type="title"/>
          </p:nvPr>
        </p:nvSpPr>
        <p:spPr>
          <a:xfrm>
            <a:off x="49292" y="90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後台管理員</a:t>
            </a:r>
            <a:b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查看會員列表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17" name="Google Shape;417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1886" y="951419"/>
            <a:ext cx="7000227" cy="41017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105"/>
          <p:cNvSpPr txBox="1"/>
          <p:nvPr>
            <p:ph type="title"/>
          </p:nvPr>
        </p:nvSpPr>
        <p:spPr>
          <a:xfrm>
            <a:off x="0" y="184724"/>
            <a:ext cx="38070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後台管理員</a:t>
            </a:r>
            <a:b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會員關鍵字查詢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24" name="Google Shape;424;p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6972" y="1009114"/>
            <a:ext cx="8290056" cy="41343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9"/>
          <p:cNvSpPr txBox="1"/>
          <p:nvPr>
            <p:ph type="title"/>
          </p:nvPr>
        </p:nvSpPr>
        <p:spPr>
          <a:xfrm>
            <a:off x="0" y="184724"/>
            <a:ext cx="38070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後台管理員</a:t>
            </a:r>
            <a:b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更改會員狀態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31" name="Google Shape;43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2061" y="1323903"/>
            <a:ext cx="3807000" cy="339192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55906" y="1671354"/>
            <a:ext cx="4879160" cy="3044476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19"/>
          <p:cNvSpPr/>
          <p:nvPr/>
        </p:nvSpPr>
        <p:spPr>
          <a:xfrm>
            <a:off x="7321256" y="2571750"/>
            <a:ext cx="551062" cy="381505"/>
          </a:xfrm>
          <a:prstGeom prst="ellipse">
            <a:avLst/>
          </a:prstGeom>
          <a:noFill/>
          <a:ln cap="flat" cmpd="sng" w="254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19"/>
          <p:cNvSpPr/>
          <p:nvPr/>
        </p:nvSpPr>
        <p:spPr>
          <a:xfrm>
            <a:off x="1648667" y="2687816"/>
            <a:ext cx="551062" cy="381505"/>
          </a:xfrm>
          <a:prstGeom prst="ellipse">
            <a:avLst/>
          </a:prstGeom>
          <a:noFill/>
          <a:ln cap="flat" cmpd="sng" w="254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b13c246361_1_57"/>
          <p:cNvSpPr txBox="1"/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後台管理員功能</a:t>
            </a:r>
            <a:b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41" name="Google Shape;441;g3b13c246361_1_57" title="螢幕擷取畫面 2025-12-19 020834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0025" y="894401"/>
            <a:ext cx="7702304" cy="3870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7" name="Google Shape;447;p107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448" name="Google Shape;448;p107"/>
            <p:cNvSpPr/>
            <p:nvPr/>
          </p:nvSpPr>
          <p:spPr>
            <a:xfrm>
              <a:off x="267904" y="-25298"/>
              <a:ext cx="4269658" cy="516879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49" name="Google Shape;449;p107"/>
            <p:cNvSpPr/>
            <p:nvPr/>
          </p:nvSpPr>
          <p:spPr>
            <a:xfrm>
              <a:off x="-58652" y="-27977"/>
              <a:ext cx="4269658" cy="517147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450" name="Google Shape;450;p107"/>
          <p:cNvSpPr txBox="1"/>
          <p:nvPr/>
        </p:nvSpPr>
        <p:spPr>
          <a:xfrm>
            <a:off x="990600" y="2175974"/>
            <a:ext cx="1079100" cy="6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07</a:t>
            </a:r>
            <a:endParaRPr b="1" i="0" sz="51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1" name="Google Shape;451;p107"/>
          <p:cNvSpPr txBox="1"/>
          <p:nvPr/>
        </p:nvSpPr>
        <p:spPr>
          <a:xfrm>
            <a:off x="3230088" y="2114550"/>
            <a:ext cx="5611211" cy="10771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購物車功能流程及ER MODEL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1" i="0" sz="3200" u="none" cap="none" strike="noStrik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15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8" name="Google Shape;458;p15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59" name="Google Shape;459;p15"/>
          <p:cNvSpPr txBox="1"/>
          <p:nvPr/>
        </p:nvSpPr>
        <p:spPr>
          <a:xfrm>
            <a:off x="2814611" y="3420134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60" name="Google Shape;460;p15"/>
          <p:cNvSpPr txBox="1"/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購物車功能流程圖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61" name="Google Shape;46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24352" y="371475"/>
            <a:ext cx="3912375" cy="4400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3b14228b5f8_1_0"/>
          <p:cNvSpPr txBox="1"/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加入購物車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68" name="Google Shape;468;g3b14228b5f8_1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05345" y="1149695"/>
            <a:ext cx="6733309" cy="3744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20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5" name="Google Shape;475;p20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6" name="Google Shape;476;p20"/>
          <p:cNvSpPr txBox="1"/>
          <p:nvPr/>
        </p:nvSpPr>
        <p:spPr>
          <a:xfrm>
            <a:off x="2814611" y="3420134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7" name="Google Shape;477;p20"/>
          <p:cNvSpPr txBox="1"/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購物車(查看、增刪商品數量)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478" name="Google Shape;478;p20"/>
          <p:cNvSpPr txBox="1"/>
          <p:nvPr/>
        </p:nvSpPr>
        <p:spPr>
          <a:xfrm>
            <a:off x="7724500" y="3298425"/>
            <a:ext cx="237000" cy="34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1" i="0" sz="1400" u="none" cap="none" strike="noStrike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79" name="Google Shape;47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3930" y="1466602"/>
            <a:ext cx="4448070" cy="269086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" name="Google Shape;480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99614" y="1466602"/>
            <a:ext cx="4290031" cy="26909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109"/>
          <p:cNvSpPr txBox="1"/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購物車功能</a:t>
            </a:r>
            <a:b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487" name="Google Shape;487;p109" title="購物車資料表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77650" y="320001"/>
            <a:ext cx="4610900" cy="4256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3" name="Google Shape;493;p111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494" name="Google Shape;494;p111"/>
            <p:cNvSpPr/>
            <p:nvPr/>
          </p:nvSpPr>
          <p:spPr>
            <a:xfrm>
              <a:off x="267904" y="-25298"/>
              <a:ext cx="4269658" cy="516879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495" name="Google Shape;495;p111"/>
            <p:cNvSpPr/>
            <p:nvPr/>
          </p:nvSpPr>
          <p:spPr>
            <a:xfrm>
              <a:off x="-58652" y="-27977"/>
              <a:ext cx="4269658" cy="517147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496" name="Google Shape;496;p111"/>
          <p:cNvSpPr txBox="1"/>
          <p:nvPr/>
        </p:nvSpPr>
        <p:spPr>
          <a:xfrm>
            <a:off x="990600" y="2175974"/>
            <a:ext cx="1079100" cy="6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08</a:t>
            </a:r>
            <a:endParaRPr b="1" i="0" sz="5100" u="none" cap="none" strike="noStrike">
              <a:solidFill>
                <a:schemeClr val="accen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7" name="Google Shape;497;p111"/>
          <p:cNvSpPr txBox="1"/>
          <p:nvPr/>
        </p:nvSpPr>
        <p:spPr>
          <a:xfrm>
            <a:off x="3581399" y="2114550"/>
            <a:ext cx="5259900" cy="5231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結帳功能流程與ER MODEL</a:t>
            </a:r>
            <a:endParaRPr b="1" i="0" sz="2800" u="none" cap="none" strike="noStrik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13"/>
          <p:cNvSpPr txBox="1"/>
          <p:nvPr/>
        </p:nvSpPr>
        <p:spPr>
          <a:xfrm>
            <a:off x="3128132" y="303670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4" name="Google Shape;504;p13"/>
          <p:cNvSpPr txBox="1"/>
          <p:nvPr/>
        </p:nvSpPr>
        <p:spPr>
          <a:xfrm>
            <a:off x="2567628" y="2750182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5" name="Google Shape;505;p13"/>
          <p:cNvSpPr txBox="1"/>
          <p:nvPr/>
        </p:nvSpPr>
        <p:spPr>
          <a:xfrm>
            <a:off x="2814611" y="3420134"/>
            <a:ext cx="634550" cy="2238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6" name="Google Shape;506;p13"/>
          <p:cNvSpPr txBox="1"/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結帳功能-流程圖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07" name="Google Shape;50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48164" y="162530"/>
            <a:ext cx="4293354" cy="4818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b060e457b9_0_1"/>
          <p:cNvSpPr txBox="1"/>
          <p:nvPr/>
        </p:nvSpPr>
        <p:spPr>
          <a:xfrm>
            <a:off x="3128132" y="3036702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4" name="Google Shape;514;g3b060e457b9_0_1"/>
          <p:cNvSpPr txBox="1"/>
          <p:nvPr/>
        </p:nvSpPr>
        <p:spPr>
          <a:xfrm>
            <a:off x="2567628" y="2750182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5" name="Google Shape;515;g3b060e457b9_0_1"/>
          <p:cNvSpPr txBox="1"/>
          <p:nvPr/>
        </p:nvSpPr>
        <p:spPr>
          <a:xfrm>
            <a:off x="2814611" y="3420134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6" name="Google Shape;516;g3b060e457b9_0_1"/>
          <p:cNvSpPr txBox="1"/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結帳畫面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17" name="Google Shape;517;g3b060e457b9_0_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556" y="1255861"/>
            <a:ext cx="7344888" cy="29886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g3b1d23ac307_0_12"/>
          <p:cNvSpPr txBox="1"/>
          <p:nvPr/>
        </p:nvSpPr>
        <p:spPr>
          <a:xfrm>
            <a:off x="3128132" y="3036702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4" name="Google Shape;524;g3b1d23ac307_0_12"/>
          <p:cNvSpPr txBox="1"/>
          <p:nvPr/>
        </p:nvSpPr>
        <p:spPr>
          <a:xfrm>
            <a:off x="2567628" y="2750182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5" name="Google Shape;525;g3b1d23ac307_0_12"/>
          <p:cNvSpPr txBox="1"/>
          <p:nvPr/>
        </p:nvSpPr>
        <p:spPr>
          <a:xfrm>
            <a:off x="2814611" y="3420134"/>
            <a:ext cx="634500" cy="2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6" name="Google Shape;526;g3b1d23ac307_0_12"/>
          <p:cNvSpPr txBox="1"/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結帳付款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27" name="Google Shape;527;g3b1d23ac307_0_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75020" y="540629"/>
            <a:ext cx="3193960" cy="44191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112"/>
          <p:cNvSpPr txBox="1"/>
          <p:nvPr>
            <p:ph type="title"/>
          </p:nvPr>
        </p:nvSpPr>
        <p:spPr>
          <a:xfrm>
            <a:off x="64392" y="133351"/>
            <a:ext cx="3063740" cy="83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結帳付款功能-</a:t>
            </a:r>
            <a:b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34" name="Google Shape;534;p1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26400" y="916751"/>
            <a:ext cx="6524874" cy="354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3b1d23ac307_0_3"/>
          <p:cNvSpPr txBox="1"/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ct val="1000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結帳付款功能-</a:t>
            </a:r>
            <a:b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ER MODEL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41" name="Google Shape;541;g3b1d23ac307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68126" y="968250"/>
            <a:ext cx="5827949" cy="3444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7" name="Google Shape;547;p44"/>
          <p:cNvGrpSpPr/>
          <p:nvPr/>
        </p:nvGrpSpPr>
        <p:grpSpPr>
          <a:xfrm>
            <a:off x="-58651" y="-27977"/>
            <a:ext cx="2878052" cy="5171477"/>
            <a:chOff x="-58652" y="-27977"/>
            <a:chExt cx="4596214" cy="5171477"/>
          </a:xfrm>
        </p:grpSpPr>
        <p:sp>
          <p:nvSpPr>
            <p:cNvPr id="548" name="Google Shape;548;p44"/>
            <p:cNvSpPr/>
            <p:nvPr/>
          </p:nvSpPr>
          <p:spPr>
            <a:xfrm>
              <a:off x="267904" y="-25298"/>
              <a:ext cx="4269658" cy="516879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49" name="Google Shape;549;p44"/>
            <p:cNvSpPr/>
            <p:nvPr/>
          </p:nvSpPr>
          <p:spPr>
            <a:xfrm>
              <a:off x="-58652" y="-27977"/>
              <a:ext cx="4269658" cy="517147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550" name="Google Shape;550;p44"/>
          <p:cNvSpPr txBox="1"/>
          <p:nvPr/>
        </p:nvSpPr>
        <p:spPr>
          <a:xfrm>
            <a:off x="990600" y="2175974"/>
            <a:ext cx="1152896" cy="7924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09</a:t>
            </a:r>
            <a:endParaRPr/>
          </a:p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44"/>
          <p:cNvSpPr txBox="1"/>
          <p:nvPr/>
        </p:nvSpPr>
        <p:spPr>
          <a:xfrm>
            <a:off x="3581400" y="2114550"/>
            <a:ext cx="4724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lang="en-US" sz="32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未來展望</a:t>
            </a:r>
            <a:endParaRPr b="1" i="0" sz="3200" u="none" cap="none" strike="noStrike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3d83b8ed623_0_9"/>
          <p:cNvSpPr/>
          <p:nvPr/>
        </p:nvSpPr>
        <p:spPr>
          <a:xfrm>
            <a:off x="0" y="0"/>
            <a:ext cx="2960296" cy="5177790"/>
          </a:xfrm>
          <a:custGeom>
            <a:rect b="b" l="l" r="r" t="t"/>
            <a:pathLst>
              <a:path extrusionOk="0" h="6858000" w="5692877">
                <a:moveTo>
                  <a:pt x="0" y="0"/>
                </a:moveTo>
                <a:lnTo>
                  <a:pt x="5079980" y="0"/>
                </a:lnTo>
                <a:cubicBezTo>
                  <a:pt x="6560158" y="721167"/>
                  <a:pt x="4579961" y="1908501"/>
                  <a:pt x="5647764" y="3024115"/>
                </a:cubicBezTo>
                <a:cubicBezTo>
                  <a:pt x="6119906" y="4104853"/>
                  <a:pt x="2701365" y="5580038"/>
                  <a:pt x="3980330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8" name="Google Shape;558;g3d83b8ed623_0_9"/>
          <p:cNvSpPr txBox="1"/>
          <p:nvPr>
            <p:ph type="title"/>
          </p:nvPr>
        </p:nvSpPr>
        <p:spPr>
          <a:xfrm>
            <a:off x="64392" y="133351"/>
            <a:ext cx="30636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Microsoft JhengHei"/>
              <a:buNone/>
            </a:pPr>
            <a:r>
              <a:rPr b="1" lang="en-US" sz="28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未來展望</a:t>
            </a:r>
            <a:endParaRPr b="1" sz="28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559" name="Google Shape;559;g3d83b8ed623_0_9"/>
          <p:cNvSpPr txBox="1"/>
          <p:nvPr/>
        </p:nvSpPr>
        <p:spPr>
          <a:xfrm>
            <a:off x="3346950" y="1250900"/>
            <a:ext cx="5381400" cy="26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待完成</a:t>
            </a:r>
            <a:br>
              <a:rPr b="1" lang="en-US" sz="2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br>
              <a:rPr b="1" lang="en-US" sz="24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b="1" lang="en-US" sz="2200" u="sng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商品功能: </a:t>
            </a:r>
            <a:br>
              <a:rPr b="1" lang="en-US" sz="2400" u="sng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br>
              <a:rPr lang="en-US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1.前台商品分類瀏覽</a:t>
            </a:r>
            <a:br>
              <a:rPr lang="en-US" sz="21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</a:br>
            <a:r>
              <a:rPr lang="en-US" sz="1800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2.後台商品上下架</a:t>
            </a:r>
            <a:br>
              <a:rPr lang="en-US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	                 </a:t>
            </a:r>
            <a:br>
              <a:rPr lang="en-US" sz="2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endParaRPr sz="1800">
              <a:solidFill>
                <a:schemeClr val="dk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4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5" name="Google Shape;565;g3d83b8ed623_0_15"/>
          <p:cNvGrpSpPr/>
          <p:nvPr/>
        </p:nvGrpSpPr>
        <p:grpSpPr>
          <a:xfrm>
            <a:off x="-58652" y="-27977"/>
            <a:ext cx="2878149" cy="5177790"/>
            <a:chOff x="-58652" y="-27977"/>
            <a:chExt cx="4596214" cy="5177790"/>
          </a:xfrm>
        </p:grpSpPr>
        <p:sp>
          <p:nvSpPr>
            <p:cNvPr id="566" name="Google Shape;566;g3d83b8ed623_0_15"/>
            <p:cNvSpPr/>
            <p:nvPr/>
          </p:nvSpPr>
          <p:spPr>
            <a:xfrm>
              <a:off x="267904" y="-25298"/>
              <a:ext cx="4269658" cy="5160645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67" name="Google Shape;567;g3d83b8ed623_0_15"/>
            <p:cNvSpPr/>
            <p:nvPr/>
          </p:nvSpPr>
          <p:spPr>
            <a:xfrm>
              <a:off x="-58652" y="-27977"/>
              <a:ext cx="4269658" cy="5177790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568" name="Google Shape;568;g3d83b8ed623_0_15"/>
          <p:cNvSpPr txBox="1"/>
          <p:nvPr/>
        </p:nvSpPr>
        <p:spPr>
          <a:xfrm>
            <a:off x="990600" y="2175974"/>
            <a:ext cx="11529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rPr b="1" lang="en-US" sz="5100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rPr>
              <a:t>10</a:t>
            </a:r>
            <a:endParaRPr/>
          </a:p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g3d83b8ed623_0_15"/>
          <p:cNvSpPr txBox="1"/>
          <p:nvPr/>
        </p:nvSpPr>
        <p:spPr>
          <a:xfrm>
            <a:off x="3581400" y="2114550"/>
            <a:ext cx="4724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lang="en-US" sz="32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參考資料</a:t>
            </a:r>
            <a:endParaRPr b="1" sz="32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45"/>
          <p:cNvSpPr txBox="1"/>
          <p:nvPr>
            <p:ph type="title"/>
          </p:nvPr>
        </p:nvSpPr>
        <p:spPr>
          <a:xfrm>
            <a:off x="1389666" y="133350"/>
            <a:ext cx="6364668" cy="83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500"/>
              <a:buFont typeface="Microsoft JhengHei"/>
              <a:buNone/>
            </a:pPr>
            <a:r>
              <a:rPr b="1" lang="en-US" sz="25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參考資料</a:t>
            </a:r>
            <a:endParaRPr b="1" sz="25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76" name="Google Shape;576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8112" y="2172372"/>
            <a:ext cx="3553321" cy="1086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577" name="Google Shape;577;p45" title="logo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72925" y="1581831"/>
            <a:ext cx="2749825" cy="533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8" name="Google Shape;578;p45" title="68584c8d-1fc5-4296-bfc4-2b2e7ee1af86.jp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083751" y="2728800"/>
            <a:ext cx="2026926" cy="2026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" name="Google Shape;579;p45" title="x5kbnkqbonphqbzsbm7p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998450" y="2042925"/>
            <a:ext cx="1601250" cy="160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5" name="Google Shape;585;g3b22b6f32d6_1_2" title="螢幕擷取畫面 2025-12-20 21555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300" y="784700"/>
            <a:ext cx="2402851" cy="1817599"/>
          </a:xfrm>
          <a:prstGeom prst="rect">
            <a:avLst/>
          </a:prstGeom>
          <a:noFill/>
          <a:ln>
            <a:noFill/>
          </a:ln>
        </p:spPr>
      </p:pic>
      <p:sp>
        <p:nvSpPr>
          <p:cNvPr id="586" name="Google Shape;586;g3b22b6f32d6_1_2"/>
          <p:cNvSpPr txBox="1"/>
          <p:nvPr>
            <p:ph type="title"/>
          </p:nvPr>
        </p:nvSpPr>
        <p:spPr>
          <a:xfrm>
            <a:off x="1389666" y="133350"/>
            <a:ext cx="6364800" cy="8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500"/>
              <a:buFont typeface="Microsoft JhengHei"/>
              <a:buNone/>
            </a:pPr>
            <a:r>
              <a:rPr b="1" lang="en-US" sz="2500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參考資料</a:t>
            </a:r>
            <a:endParaRPr b="1" sz="2500">
              <a:solidFill>
                <a:srgbClr val="3F3F3F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pic>
        <p:nvPicPr>
          <p:cNvPr id="587" name="Google Shape;587;g3b22b6f32d6_1_2" title="螢幕擷取畫面 2025-12-20 220111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57675" y="815250"/>
            <a:ext cx="2663849" cy="1756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8" name="Google Shape;588;g3b22b6f32d6_1_2" title="螢幕擷取畫面 2025-12-20 220154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1638" y="2838275"/>
            <a:ext cx="2780176" cy="201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9" name="Google Shape;589;g3b22b6f32d6_1_2" title="螢幕擷取畫面 2025-12-20 220302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257675" y="2941825"/>
            <a:ext cx="2903251" cy="19137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46"/>
          <p:cNvSpPr txBox="1"/>
          <p:nvPr/>
        </p:nvSpPr>
        <p:spPr>
          <a:xfrm>
            <a:off x="4114800" y="2214847"/>
            <a:ext cx="4859022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chemeClr val="accent1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THANKS FOR LISTENING!</a:t>
            </a:r>
            <a:endParaRPr b="1" i="0" sz="2800" u="none" cap="none" strike="noStrike">
              <a:solidFill>
                <a:schemeClr val="accen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grpSp>
        <p:nvGrpSpPr>
          <p:cNvPr id="596" name="Google Shape;596;p46"/>
          <p:cNvGrpSpPr/>
          <p:nvPr/>
        </p:nvGrpSpPr>
        <p:grpSpPr>
          <a:xfrm>
            <a:off x="-58652" y="-27977"/>
            <a:ext cx="4094531" cy="5171477"/>
            <a:chOff x="-58652" y="-27977"/>
            <a:chExt cx="4596214" cy="5171477"/>
          </a:xfrm>
        </p:grpSpPr>
        <p:sp>
          <p:nvSpPr>
            <p:cNvPr id="597" name="Google Shape;597;p46"/>
            <p:cNvSpPr/>
            <p:nvPr/>
          </p:nvSpPr>
          <p:spPr>
            <a:xfrm>
              <a:off x="267904" y="-25298"/>
              <a:ext cx="4269658" cy="516879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598" name="Google Shape;598;p46"/>
            <p:cNvSpPr/>
            <p:nvPr/>
          </p:nvSpPr>
          <p:spPr>
            <a:xfrm>
              <a:off x="-58652" y="-27977"/>
              <a:ext cx="4269658" cy="5171477"/>
            </a:xfrm>
            <a:custGeom>
              <a:rect b="b" l="l" r="r" t="t"/>
              <a:pathLst>
                <a:path extrusionOk="0" h="6858000" w="5692877">
                  <a:moveTo>
                    <a:pt x="0" y="0"/>
                  </a:moveTo>
                  <a:lnTo>
                    <a:pt x="5079980" y="0"/>
                  </a:lnTo>
                  <a:cubicBezTo>
                    <a:pt x="6560158" y="721167"/>
                    <a:pt x="4579961" y="1908501"/>
                    <a:pt x="5647764" y="3024115"/>
                  </a:cubicBezTo>
                  <a:cubicBezTo>
                    <a:pt x="6119906" y="4104853"/>
                    <a:pt x="2701365" y="5580038"/>
                    <a:pt x="3980330" y="6858000"/>
                  </a:cubicBez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6BCC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599" name="Google Shape;599;p46"/>
          <p:cNvPicPr preferRelativeResize="0"/>
          <p:nvPr/>
        </p:nvPicPr>
        <p:blipFill rotWithShape="1">
          <a:blip r:embed="rId3">
            <a:alphaModFix/>
          </a:blip>
          <a:srcRect b="0" l="0" r="11712" t="0"/>
          <a:stretch/>
        </p:blipFill>
        <p:spPr>
          <a:xfrm flipH="1">
            <a:off x="5257800" y="2856986"/>
            <a:ext cx="3113814" cy="1924564"/>
          </a:xfrm>
          <a:prstGeom prst="rect">
            <a:avLst/>
          </a:prstGeom>
          <a:noFill/>
          <a:ln>
            <a:noFill/>
          </a:ln>
        </p:spPr>
      </p:pic>
      <p:pic>
        <p:nvPicPr>
          <p:cNvPr id="600" name="Google Shape;600;p4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-691383" y="977133"/>
            <a:ext cx="3924215" cy="2998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">
  <a:themeElements>
    <a:clrScheme name="自定义 45">
      <a:dk1>
        <a:srgbClr val="000000"/>
      </a:dk1>
      <a:lt1>
        <a:srgbClr val="FFFFFF"/>
      </a:lt1>
      <a:dk2>
        <a:srgbClr val="3E3D2D"/>
      </a:dk2>
      <a:lt2>
        <a:srgbClr val="FFFFFF"/>
      </a:lt2>
      <a:accent1>
        <a:srgbClr val="394B51"/>
      </a:accent1>
      <a:accent2>
        <a:srgbClr val="7FA99B"/>
      </a:accent2>
      <a:accent3>
        <a:srgbClr val="394B51"/>
      </a:accent3>
      <a:accent4>
        <a:srgbClr val="7FA99B"/>
      </a:accent4>
      <a:accent5>
        <a:srgbClr val="394B51"/>
      </a:accent5>
      <a:accent6>
        <a:srgbClr val="7FA99B"/>
      </a:accent6>
      <a:hlink>
        <a:srgbClr val="394B51"/>
      </a:hlink>
      <a:folHlink>
        <a:srgbClr val="7FA99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2019-03-15T03:03:38Z</dcterms:created>
  <dc:creator>user</dc:creator>
</cp:coreProperties>
</file>